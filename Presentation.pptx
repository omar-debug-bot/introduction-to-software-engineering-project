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Dreaming Outloud Sans" panose="020B0604020202020204" charset="0"/>
      <p:regular r:id="rId26"/>
    </p:embeddedFont>
    <p:embeddedFont>
      <p:font typeface="Calibri" panose="020F0502020204030204" pitchFamily="34" charset="0"/>
      <p:regular r:id="rId27"/>
      <p:bold r:id="rId28"/>
      <p:italic r:id="rId29"/>
      <p:boldItalic r:id="rId30"/>
    </p:embeddedFont>
    <p:embeddedFont>
      <p:font typeface="Balmy" charset="0"/>
      <p:regular r:id="rId31"/>
    </p:embeddedFont>
    <p:embeddedFont>
      <p:font typeface="Canva Sans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7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3" Type="http://schemas.openxmlformats.org/officeDocument/2006/relationships/slide" Target="slide12.xml"/><Relationship Id="rId18" Type="http://schemas.openxmlformats.org/officeDocument/2006/relationships/slide" Target="slide6.xml"/><Relationship Id="rId21" Type="http://schemas.openxmlformats.org/officeDocument/2006/relationships/slide" Target="slide18.xml"/><Relationship Id="rId12" Type="http://schemas.openxmlformats.org/officeDocument/2006/relationships/slide" Target="slide16.xml"/><Relationship Id="rId17" Type="http://schemas.openxmlformats.org/officeDocument/2006/relationships/slide" Target="slide5.xml"/><Relationship Id="rId2" Type="http://schemas.openxmlformats.org/officeDocument/2006/relationships/image" Target="../media/image3.png"/><Relationship Id="rId16" Type="http://schemas.openxmlformats.org/officeDocument/2006/relationships/slide" Target="slide22.xml"/><Relationship Id="rId20" Type="http://schemas.openxmlformats.org/officeDocument/2006/relationships/slide" Target="slide11.xml"/><Relationship Id="rId1" Type="http://schemas.openxmlformats.org/officeDocument/2006/relationships/slideLayout" Target="../slideLayouts/slideLayout7.xml"/><Relationship Id="rId11" Type="http://schemas.openxmlformats.org/officeDocument/2006/relationships/slide" Target="slide20.xml"/><Relationship Id="rId24" Type="http://schemas.openxmlformats.org/officeDocument/2006/relationships/slide" Target="slide4.xml"/><Relationship Id="rId15" Type="http://schemas.openxmlformats.org/officeDocument/2006/relationships/slide" Target="slide7.xml"/><Relationship Id="rId23" Type="http://schemas.openxmlformats.org/officeDocument/2006/relationships/slide" Target="slide23.xml"/><Relationship Id="rId10" Type="http://schemas.openxmlformats.org/officeDocument/2006/relationships/slide" Target="slide24.xml"/><Relationship Id="rId19" Type="http://schemas.openxmlformats.org/officeDocument/2006/relationships/slide" Target="slide8.xml"/><Relationship Id="rId9" Type="http://schemas.openxmlformats.org/officeDocument/2006/relationships/image" Target="../media/image17.svg"/><Relationship Id="rId14" Type="http://schemas.openxmlformats.org/officeDocument/2006/relationships/slide" Target="slide9.xml"/><Relationship Id="rId22" Type="http://schemas.openxmlformats.org/officeDocument/2006/relationships/slide" Target="slide14.xml"/></Relationships>
</file>

<file path=ppt/slides/_rels/slide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1" Type="http://schemas.openxmlformats.org/officeDocument/2006/relationships/slideLayout" Target="../slideLayouts/slideLayout7.xml"/><Relationship Id="rId24" Type="http://schemas.openxmlformats.org/officeDocument/2006/relationships/image" Target="../media/image39.svg"/><Relationship Id="rId5" Type="http://schemas.openxmlformats.org/officeDocument/2006/relationships/image" Target="../media/image5.png"/><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20" Type="http://schemas.openxmlformats.org/officeDocument/2006/relationships/image" Target="../media/image39.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slide" Target="slide3.xml"/><Relationship Id="rId22" Type="http://schemas.openxmlformats.org/officeDocument/2006/relationships/image" Target="../media/image39.svg"/></Relationships>
</file>

<file path=ppt/slides/_rels/slide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20" Type="http://schemas.openxmlformats.org/officeDocument/2006/relationships/image" Target="../media/image39.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slide" Target="slide3.xml"/></Relationships>
</file>

<file path=ppt/slides/_rels/slide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slide" Target="slide3.xml"/><Relationship Id="rId22" Type="http://schemas.openxmlformats.org/officeDocument/2006/relationships/image" Target="../media/image39.svg"/></Relationships>
</file>

<file path=ppt/slides/_rels/slide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1" Type="http://schemas.openxmlformats.org/officeDocument/2006/relationships/slideLayout" Target="../slideLayouts/slideLayout7.xml"/><Relationship Id="rId24" Type="http://schemas.openxmlformats.org/officeDocument/2006/relationships/image" Target="../media/image39.svg"/><Relationship Id="rId5" Type="http://schemas.openxmlformats.org/officeDocument/2006/relationships/image" Target="../media/image5.png"/><Relationship Id="rId4" Type="http://schemas.openxmlformats.org/officeDocument/2006/relationships/slide" Target="slide3.xml"/></Relationships>
</file>

<file path=ppt/slides/_rels/slide1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1" Type="http://schemas.openxmlformats.org/officeDocument/2006/relationships/slideLayout" Target="../slideLayouts/slideLayout7.xml"/><Relationship Id="rId24" Type="http://schemas.openxmlformats.org/officeDocument/2006/relationships/image" Target="../media/image39.svg"/><Relationship Id="rId5" Type="http://schemas.openxmlformats.org/officeDocument/2006/relationships/image" Target="../media/image5.png"/><Relationship Id="rId4" Type="http://schemas.openxmlformats.org/officeDocument/2006/relationships/slide" Target="slide3.xml"/></Relationships>
</file>

<file path=ppt/slides/_rels/slide1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20" Type="http://schemas.openxmlformats.org/officeDocument/2006/relationships/image" Target="../media/image39.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slide" Target="slide3.xml"/></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1" Type="http://schemas.openxmlformats.org/officeDocument/2006/relationships/slideLayout" Target="../slideLayouts/slideLayout7.xml"/><Relationship Id="rId24" Type="http://schemas.openxmlformats.org/officeDocument/2006/relationships/image" Target="../media/image39.svg"/><Relationship Id="rId5" Type="http://schemas.openxmlformats.org/officeDocument/2006/relationships/image" Target="../media/image5.png"/><Relationship Id="rId4" Type="http://schemas.openxmlformats.org/officeDocument/2006/relationships/slide" Target="slide3.xml"/></Relationships>
</file>

<file path=ppt/slides/_rels/slide13.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3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slide" Target="slide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6" Type="http://schemas.openxmlformats.org/officeDocument/2006/relationships/image" Target="../media/image39.svg"/><Relationship Id="rId3" Type="http://schemas.openxmlformats.org/officeDocument/2006/relationships/image" Target="../media/image2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slide" Target="slide3.xml"/></Relationships>
</file>

<file path=ppt/slides/_rels/slide15.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3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slide" Target="slide3.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20" Type="http://schemas.openxmlformats.org/officeDocument/2006/relationships/image" Target="../media/image39.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slide" Target="slide3.xml"/></Relationships>
</file>

<file path=ppt/slides/_rels/slide17.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3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slide" Target="slide3.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20" Type="http://schemas.openxmlformats.org/officeDocument/2006/relationships/image" Target="../media/image39.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slide" Target="slide3.xml"/></Relationships>
</file>

<file path=ppt/slides/_rels/slide19.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3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slide" Target="slide3.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6" Type="http://schemas.openxmlformats.org/officeDocument/2006/relationships/image" Target="../media/image39.svg"/><Relationship Id="rId3" Type="http://schemas.openxmlformats.org/officeDocument/2006/relationships/image" Target="../media/image2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slide" Target="slide3.xml"/></Relationships>
</file>

<file path=ppt/slides/_rels/slide21.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3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slide" Target="slide3.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26" Type="http://schemas.openxmlformats.org/officeDocument/2006/relationships/image" Target="../media/image13.png"/><Relationship Id="rId7" Type="http://schemas.openxmlformats.org/officeDocument/2006/relationships/image" Target="../media/image5.png"/><Relationship Id="rId25"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slide" Target="slide3.xml"/><Relationship Id="rId24" Type="http://schemas.openxmlformats.org/officeDocument/2006/relationships/image" Target="../media/image11.png"/><Relationship Id="rId5" Type="http://schemas.openxmlformats.org/officeDocument/2006/relationships/image" Target="../media/image25.svg"/><Relationship Id="rId23" Type="http://schemas.openxmlformats.org/officeDocument/2006/relationships/image" Target="../media/image39.svg"/><Relationship Id="rId27"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1" Type="http://schemas.openxmlformats.org/officeDocument/2006/relationships/slideLayout" Target="../slideLayouts/slideLayout7.xml"/><Relationship Id="rId24" Type="http://schemas.openxmlformats.org/officeDocument/2006/relationships/image" Target="../media/image39.svg"/><Relationship Id="rId5" Type="http://schemas.openxmlformats.org/officeDocument/2006/relationships/image" Target="../media/image5.png"/><Relationship Id="rId4" Type="http://schemas.openxmlformats.org/officeDocument/2006/relationships/slide" Target="slide3.xml"/></Relationships>
</file>

<file path=ppt/slides/_rels/slide2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887356" y="-2882330"/>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7784216" y="168067"/>
            <a:ext cx="2719568" cy="2726577"/>
          </a:xfrm>
          <a:custGeom>
            <a:avLst/>
            <a:gdLst/>
            <a:ahLst/>
            <a:cxnLst/>
            <a:rect l="l" t="t" r="r" b="b"/>
            <a:pathLst>
              <a:path w="2719568" h="2726577">
                <a:moveTo>
                  <a:pt x="0" y="0"/>
                </a:moveTo>
                <a:lnTo>
                  <a:pt x="2719568" y="0"/>
                </a:lnTo>
                <a:lnTo>
                  <a:pt x="2719568" y="2726577"/>
                </a:lnTo>
                <a:lnTo>
                  <a:pt x="0" y="2726577"/>
                </a:lnTo>
                <a:lnTo>
                  <a:pt x="0" y="0"/>
                </a:lnTo>
                <a:close/>
              </a:path>
            </a:pathLst>
          </a:custGeom>
          <a:blipFill>
            <a:blip r:embed="rId4"/>
            <a:stretch>
              <a:fillRect/>
            </a:stretch>
          </a:blipFill>
        </p:spPr>
      </p:sp>
      <p:sp>
        <p:nvSpPr>
          <p:cNvPr id="4" name="TextBox 4"/>
          <p:cNvSpPr txBox="1"/>
          <p:nvPr/>
        </p:nvSpPr>
        <p:spPr>
          <a:xfrm>
            <a:off x="0" y="2890751"/>
            <a:ext cx="18288000" cy="3927772"/>
          </a:xfrm>
          <a:prstGeom prst="rect">
            <a:avLst/>
          </a:prstGeom>
        </p:spPr>
        <p:txBody>
          <a:bodyPr lIns="0" tIns="0" rIns="0" bIns="0" rtlCol="0" anchor="t">
            <a:spAutoFit/>
          </a:bodyPr>
          <a:lstStyle/>
          <a:p>
            <a:pPr algn="ctr">
              <a:lnSpc>
                <a:spcPts val="3483"/>
              </a:lnSpc>
              <a:spcBef>
                <a:spcPct val="0"/>
              </a:spcBef>
            </a:pPr>
            <a:r>
              <a:rPr lang="en-US" sz="2488" b="1">
                <a:solidFill>
                  <a:srgbClr val="3B5F3E"/>
                </a:solidFill>
                <a:latin typeface="Canva Sans Bold"/>
                <a:ea typeface="Canva Sans Bold"/>
                <a:cs typeface="Canva Sans Bold"/>
                <a:sym typeface="Canva Sans Bold"/>
              </a:rPr>
              <a:t>Arab Academy for Science, Technology and Maritime Transport </a:t>
            </a:r>
          </a:p>
          <a:p>
            <a:pPr algn="ctr">
              <a:lnSpc>
                <a:spcPts val="3483"/>
              </a:lnSpc>
              <a:spcBef>
                <a:spcPct val="0"/>
              </a:spcBef>
            </a:pPr>
            <a:r>
              <a:rPr lang="en-US" sz="2488" b="1">
                <a:solidFill>
                  <a:srgbClr val="3B5F3E"/>
                </a:solidFill>
                <a:latin typeface="Canva Sans Bold"/>
                <a:ea typeface="Canva Sans Bold"/>
                <a:cs typeface="Canva Sans Bold"/>
                <a:sym typeface="Canva Sans Bold"/>
              </a:rPr>
              <a:t>College of Computing and Information Technology – Cairo </a:t>
            </a:r>
          </a:p>
          <a:p>
            <a:pPr algn="ctr">
              <a:lnSpc>
                <a:spcPts val="3483"/>
              </a:lnSpc>
              <a:spcBef>
                <a:spcPct val="0"/>
              </a:spcBef>
            </a:pPr>
            <a:r>
              <a:rPr lang="en-US" sz="2488" b="1">
                <a:solidFill>
                  <a:srgbClr val="3B5F3E"/>
                </a:solidFill>
                <a:latin typeface="Canva Sans Bold"/>
                <a:ea typeface="Canva Sans Bold"/>
                <a:cs typeface="Canva Sans Bold"/>
                <a:sym typeface="Canva Sans Bold"/>
              </a:rPr>
              <a:t>Course Name: Introduction to Software Engineering </a:t>
            </a:r>
          </a:p>
          <a:p>
            <a:pPr algn="ctr">
              <a:lnSpc>
                <a:spcPts val="3483"/>
              </a:lnSpc>
              <a:spcBef>
                <a:spcPct val="0"/>
              </a:spcBef>
            </a:pPr>
            <a:r>
              <a:rPr lang="en-US" sz="2488" b="1">
                <a:solidFill>
                  <a:srgbClr val="3B5F3E"/>
                </a:solidFill>
                <a:latin typeface="Canva Sans Bold"/>
                <a:ea typeface="Canva Sans Bold"/>
                <a:cs typeface="Canva Sans Bold"/>
                <a:sym typeface="Canva Sans Bold"/>
              </a:rPr>
              <a:t>Course Code:CSE2001</a:t>
            </a:r>
          </a:p>
          <a:p>
            <a:pPr algn="ctr">
              <a:lnSpc>
                <a:spcPts val="3483"/>
              </a:lnSpc>
              <a:spcBef>
                <a:spcPct val="0"/>
              </a:spcBef>
            </a:pPr>
            <a:r>
              <a:rPr lang="en-US" sz="2488" b="1">
                <a:solidFill>
                  <a:srgbClr val="3B5F3E"/>
                </a:solidFill>
                <a:latin typeface="Canva Sans Bold"/>
                <a:ea typeface="Canva Sans Bold"/>
                <a:cs typeface="Canva Sans Bold"/>
                <a:sym typeface="Canva Sans Bold"/>
              </a:rPr>
              <a:t>12th Week Project Documentation </a:t>
            </a:r>
          </a:p>
          <a:p>
            <a:pPr algn="ctr">
              <a:lnSpc>
                <a:spcPts val="3483"/>
              </a:lnSpc>
              <a:spcBef>
                <a:spcPct val="0"/>
              </a:spcBef>
            </a:pPr>
            <a:r>
              <a:rPr lang="en-US" sz="2488" b="1">
                <a:solidFill>
                  <a:srgbClr val="3B5F3E"/>
                </a:solidFill>
                <a:latin typeface="Canva Sans Bold"/>
                <a:ea typeface="Canva Sans Bold"/>
                <a:cs typeface="Canva Sans Bold"/>
                <a:sym typeface="Canva Sans Bold"/>
              </a:rPr>
              <a:t>Project Name: Nutrition Tracker</a:t>
            </a:r>
          </a:p>
          <a:p>
            <a:pPr algn="ctr">
              <a:lnSpc>
                <a:spcPts val="3483"/>
              </a:lnSpc>
              <a:spcBef>
                <a:spcPct val="0"/>
              </a:spcBef>
            </a:pPr>
            <a:r>
              <a:rPr lang="en-US" sz="2488" b="1">
                <a:solidFill>
                  <a:srgbClr val="3B5F3E"/>
                </a:solidFill>
                <a:latin typeface="Canva Sans Bold"/>
                <a:ea typeface="Canva Sans Bold"/>
                <a:cs typeface="Canva Sans Bold"/>
                <a:sym typeface="Canva Sans Bold"/>
              </a:rPr>
              <a:t>Nutrition Tracker is a digital platform that connects users with professional nutritionists. Users register, set up their profile, choose a subscription plan, and receive a personalized meal plan. The system handles payments, discount codes, and progress tracking, all in one place.</a:t>
            </a:r>
          </a:p>
        </p:txBody>
      </p:sp>
      <p:sp>
        <p:nvSpPr>
          <p:cNvPr id="5" name="TextBox 5"/>
          <p:cNvSpPr txBox="1"/>
          <p:nvPr/>
        </p:nvSpPr>
        <p:spPr>
          <a:xfrm>
            <a:off x="7896999" y="7041133"/>
            <a:ext cx="2494002" cy="497840"/>
          </a:xfrm>
          <a:prstGeom prst="rect">
            <a:avLst/>
          </a:prstGeom>
        </p:spPr>
        <p:txBody>
          <a:bodyPr lIns="0" tIns="0" rIns="0" bIns="0" rtlCol="0" anchor="t">
            <a:spAutoFit/>
          </a:bodyPr>
          <a:lstStyle/>
          <a:p>
            <a:pPr algn="ctr">
              <a:lnSpc>
                <a:spcPts val="4060"/>
              </a:lnSpc>
              <a:spcBef>
                <a:spcPct val="0"/>
              </a:spcBef>
            </a:pPr>
            <a:r>
              <a:rPr lang="en-US" sz="2900" b="1">
                <a:solidFill>
                  <a:srgbClr val="3B5F3E"/>
                </a:solidFill>
                <a:latin typeface="Canva Sans Bold"/>
                <a:ea typeface="Canva Sans Bold"/>
                <a:cs typeface="Canva Sans Bold"/>
                <a:sym typeface="Canva Sans Bold"/>
              </a:rPr>
              <a:t>Presented By:</a:t>
            </a:r>
          </a:p>
        </p:txBody>
      </p:sp>
      <p:sp>
        <p:nvSpPr>
          <p:cNvPr id="6" name="TextBox 6"/>
          <p:cNvSpPr txBox="1"/>
          <p:nvPr/>
        </p:nvSpPr>
        <p:spPr>
          <a:xfrm>
            <a:off x="5231844" y="7500872"/>
            <a:ext cx="2864525" cy="396239"/>
          </a:xfrm>
          <a:prstGeom prst="rect">
            <a:avLst/>
          </a:prstGeom>
        </p:spPr>
        <p:txBody>
          <a:bodyPr lIns="0" tIns="0" rIns="0" bIns="0" rtlCol="0" anchor="t">
            <a:spAutoFit/>
          </a:bodyPr>
          <a:lstStyle/>
          <a:p>
            <a:pPr algn="ctr">
              <a:lnSpc>
                <a:spcPts val="3360"/>
              </a:lnSpc>
              <a:spcBef>
                <a:spcPct val="0"/>
              </a:spcBef>
            </a:pPr>
            <a:r>
              <a:rPr lang="en-US" sz="2400" b="1">
                <a:solidFill>
                  <a:srgbClr val="3B5F3E"/>
                </a:solidFill>
                <a:latin typeface="Canva Sans Bold"/>
                <a:ea typeface="Canva Sans Bold"/>
                <a:cs typeface="Canva Sans Bold"/>
                <a:sym typeface="Canva Sans Bold"/>
              </a:rPr>
              <a:t>Name 1 :Seif Yasser</a:t>
            </a:r>
          </a:p>
        </p:txBody>
      </p:sp>
      <p:sp>
        <p:nvSpPr>
          <p:cNvPr id="7" name="TextBox 7"/>
          <p:cNvSpPr txBox="1"/>
          <p:nvPr/>
        </p:nvSpPr>
        <p:spPr>
          <a:xfrm>
            <a:off x="9913342" y="7500872"/>
            <a:ext cx="3834487" cy="396239"/>
          </a:xfrm>
          <a:prstGeom prst="rect">
            <a:avLst/>
          </a:prstGeom>
        </p:spPr>
        <p:txBody>
          <a:bodyPr lIns="0" tIns="0" rIns="0" bIns="0" rtlCol="0" anchor="t">
            <a:spAutoFit/>
          </a:bodyPr>
          <a:lstStyle/>
          <a:p>
            <a:pPr algn="ctr">
              <a:lnSpc>
                <a:spcPts val="3360"/>
              </a:lnSpc>
              <a:spcBef>
                <a:spcPct val="0"/>
              </a:spcBef>
            </a:pPr>
            <a:r>
              <a:rPr lang="en-US" sz="2400" b="1">
                <a:solidFill>
                  <a:srgbClr val="3B5F3E"/>
                </a:solidFill>
                <a:latin typeface="Canva Sans Bold"/>
                <a:ea typeface="Canva Sans Bold"/>
                <a:cs typeface="Canva Sans Bold"/>
                <a:sym typeface="Canva Sans Bold"/>
              </a:rPr>
              <a:t>Name 2 :Omar Akram</a:t>
            </a:r>
          </a:p>
        </p:txBody>
      </p:sp>
      <p:sp>
        <p:nvSpPr>
          <p:cNvPr id="8" name="TextBox 8"/>
          <p:cNvSpPr txBox="1"/>
          <p:nvPr/>
        </p:nvSpPr>
        <p:spPr>
          <a:xfrm>
            <a:off x="4721265" y="8271486"/>
            <a:ext cx="3695755" cy="396239"/>
          </a:xfrm>
          <a:prstGeom prst="rect">
            <a:avLst/>
          </a:prstGeom>
        </p:spPr>
        <p:txBody>
          <a:bodyPr lIns="0" tIns="0" rIns="0" bIns="0" rtlCol="0" anchor="t">
            <a:spAutoFit/>
          </a:bodyPr>
          <a:lstStyle/>
          <a:p>
            <a:pPr algn="ctr">
              <a:lnSpc>
                <a:spcPts val="3360"/>
              </a:lnSpc>
              <a:spcBef>
                <a:spcPct val="0"/>
              </a:spcBef>
            </a:pPr>
            <a:r>
              <a:rPr lang="en-US" sz="2400" b="1" dirty="0" err="1">
                <a:solidFill>
                  <a:srgbClr val="3B5F3E"/>
                </a:solidFill>
                <a:latin typeface="Canva Sans Bold"/>
                <a:ea typeface="Canva Sans Bold"/>
                <a:cs typeface="Canva Sans Bold"/>
                <a:sym typeface="Canva Sans Bold"/>
              </a:rPr>
              <a:t>Reg</a:t>
            </a:r>
            <a:r>
              <a:rPr lang="en-US" sz="2400" b="1" dirty="0">
                <a:solidFill>
                  <a:srgbClr val="3B5F3E"/>
                </a:solidFill>
                <a:latin typeface="Canva Sans Bold"/>
                <a:ea typeface="Canva Sans Bold"/>
                <a:cs typeface="Canva Sans Bold"/>
                <a:sym typeface="Canva Sans Bold"/>
              </a:rPr>
              <a:t> # 1 : 241004681</a:t>
            </a:r>
          </a:p>
        </p:txBody>
      </p:sp>
      <p:sp>
        <p:nvSpPr>
          <p:cNvPr id="9" name="TextBox 9"/>
          <p:cNvSpPr txBox="1"/>
          <p:nvPr/>
        </p:nvSpPr>
        <p:spPr>
          <a:xfrm>
            <a:off x="10363617" y="7996806"/>
            <a:ext cx="2933938" cy="396239"/>
          </a:xfrm>
          <a:prstGeom prst="rect">
            <a:avLst/>
          </a:prstGeom>
        </p:spPr>
        <p:txBody>
          <a:bodyPr lIns="0" tIns="0" rIns="0" bIns="0" rtlCol="0" anchor="t">
            <a:spAutoFit/>
          </a:bodyPr>
          <a:lstStyle/>
          <a:p>
            <a:pPr algn="ctr">
              <a:lnSpc>
                <a:spcPts val="3360"/>
              </a:lnSpc>
              <a:spcBef>
                <a:spcPct val="0"/>
              </a:spcBef>
            </a:pPr>
            <a:r>
              <a:rPr lang="en-US" sz="2400" b="1">
                <a:solidFill>
                  <a:srgbClr val="3B5F3E"/>
                </a:solidFill>
                <a:latin typeface="Canva Sans Bold"/>
                <a:ea typeface="Canva Sans Bold"/>
                <a:cs typeface="Canva Sans Bold"/>
                <a:sym typeface="Canva Sans Bold"/>
              </a:rPr>
              <a:t>Reg # 2 :241004666</a:t>
            </a:r>
          </a:p>
        </p:txBody>
      </p:sp>
      <p:sp>
        <p:nvSpPr>
          <p:cNvPr id="10" name="TextBox 10"/>
          <p:cNvSpPr txBox="1"/>
          <p:nvPr/>
        </p:nvSpPr>
        <p:spPr>
          <a:xfrm>
            <a:off x="6629876" y="8466455"/>
            <a:ext cx="5028248" cy="1526540"/>
          </a:xfrm>
          <a:prstGeom prst="rect">
            <a:avLst/>
          </a:prstGeom>
        </p:spPr>
        <p:txBody>
          <a:bodyPr lIns="0" tIns="0" rIns="0" bIns="0" rtlCol="0" anchor="t">
            <a:spAutoFit/>
          </a:bodyPr>
          <a:lstStyle/>
          <a:p>
            <a:pPr algn="ctr">
              <a:lnSpc>
                <a:spcPts val="4060"/>
              </a:lnSpc>
              <a:spcBef>
                <a:spcPct val="0"/>
              </a:spcBef>
            </a:pPr>
            <a:r>
              <a:rPr lang="en-US" sz="2900" b="1">
                <a:solidFill>
                  <a:srgbClr val="3B5F3E"/>
                </a:solidFill>
                <a:latin typeface="Canva Sans Bold"/>
                <a:ea typeface="Canva Sans Bold"/>
                <a:cs typeface="Canva Sans Bold"/>
                <a:sym typeface="Canva Sans Bold"/>
              </a:rPr>
              <a:t>Presented To: </a:t>
            </a:r>
          </a:p>
          <a:p>
            <a:pPr algn="ctr">
              <a:lnSpc>
                <a:spcPts val="4060"/>
              </a:lnSpc>
              <a:spcBef>
                <a:spcPct val="0"/>
              </a:spcBef>
            </a:pPr>
            <a:r>
              <a:rPr lang="en-US" sz="2900" b="1">
                <a:solidFill>
                  <a:srgbClr val="3B5F3E"/>
                </a:solidFill>
                <a:latin typeface="Canva Sans Bold"/>
                <a:ea typeface="Canva Sans Bold"/>
                <a:cs typeface="Canva Sans Bold"/>
                <a:sym typeface="Canva Sans Bold"/>
              </a:rPr>
              <a:t>Dr.Eman ElSayed Mahmoud </a:t>
            </a:r>
          </a:p>
          <a:p>
            <a:pPr algn="ctr">
              <a:lnSpc>
                <a:spcPts val="4060"/>
              </a:lnSpc>
              <a:spcBef>
                <a:spcPct val="0"/>
              </a:spcBef>
            </a:pPr>
            <a:r>
              <a:rPr lang="en-US" sz="2900" b="1">
                <a:solidFill>
                  <a:srgbClr val="3B5F3E"/>
                </a:solidFill>
                <a:latin typeface="Canva Sans Bold"/>
                <a:ea typeface="Canva Sans Bold"/>
                <a:cs typeface="Canva Sans Bold"/>
                <a:sym typeface="Canva Sans Bold"/>
              </a:rPr>
              <a:t>Eng.Anas Ahmad Ibraheem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887356" y="-2882330"/>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4" name="TextBox 4"/>
          <p:cNvSpPr txBox="1"/>
          <p:nvPr/>
        </p:nvSpPr>
        <p:spPr>
          <a:xfrm>
            <a:off x="1853774" y="2360695"/>
            <a:ext cx="14580451" cy="3745919"/>
          </a:xfrm>
          <a:prstGeom prst="rect">
            <a:avLst/>
          </a:prstGeom>
        </p:spPr>
        <p:txBody>
          <a:bodyPr lIns="0" tIns="0" rIns="0" bIns="0" rtlCol="0" anchor="t">
            <a:spAutoFit/>
          </a:bodyPr>
          <a:lstStyle/>
          <a:p>
            <a:pPr algn="ctr">
              <a:lnSpc>
                <a:spcPts val="17463"/>
              </a:lnSpc>
              <a:spcBef>
                <a:spcPct val="0"/>
              </a:spcBef>
            </a:pPr>
            <a:r>
              <a:rPr lang="en-US" sz="12474">
                <a:solidFill>
                  <a:srgbClr val="5C7D52"/>
                </a:solidFill>
                <a:latin typeface="Balmy"/>
                <a:ea typeface="Balmy"/>
                <a:cs typeface="Balmy"/>
                <a:sym typeface="Balmy"/>
              </a:rPr>
              <a:t>nutrition tracker</a:t>
            </a:r>
          </a:p>
        </p:txBody>
      </p:sp>
      <p:sp>
        <p:nvSpPr>
          <p:cNvPr id="14" name="TextBox 14"/>
          <p:cNvSpPr txBox="1"/>
          <p:nvPr/>
        </p:nvSpPr>
        <p:spPr>
          <a:xfrm>
            <a:off x="2616931" y="5393185"/>
            <a:ext cx="13054138" cy="713429"/>
          </a:xfrm>
          <a:prstGeom prst="rect">
            <a:avLst/>
          </a:prstGeom>
        </p:spPr>
        <p:txBody>
          <a:bodyPr lIns="0" tIns="0" rIns="0" bIns="0" rtlCol="0" anchor="t">
            <a:spAutoFit/>
          </a:bodyPr>
          <a:lstStyle/>
          <a:p>
            <a:pPr algn="ctr">
              <a:lnSpc>
                <a:spcPts val="5827"/>
              </a:lnSpc>
              <a:spcBef>
                <a:spcPct val="0"/>
              </a:spcBef>
            </a:pPr>
            <a:r>
              <a:rPr lang="en-US" sz="4162">
                <a:solidFill>
                  <a:srgbClr val="3B5F3E"/>
                </a:solidFill>
                <a:latin typeface="Balmy"/>
                <a:ea typeface="Balmy"/>
                <a:cs typeface="Balmy"/>
                <a:sym typeface="Balmy"/>
              </a:rPr>
              <a:t>the best choice to manage your food</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grpSp>
        <p:nvGrpSpPr>
          <p:cNvPr id="2" name="Group 2"/>
          <p:cNvGrpSpPr/>
          <p:nvPr/>
        </p:nvGrpSpPr>
        <p:grpSpPr>
          <a:xfrm>
            <a:off x="-766218" y="-356683"/>
            <a:ext cx="8361900" cy="11251028"/>
            <a:chOff x="0" y="0"/>
            <a:chExt cx="2202311" cy="2963234"/>
          </a:xfrm>
        </p:grpSpPr>
        <p:sp>
          <p:nvSpPr>
            <p:cNvPr id="3" name="Freeform 3"/>
            <p:cNvSpPr/>
            <p:nvPr/>
          </p:nvSpPr>
          <p:spPr>
            <a:xfrm>
              <a:off x="0" y="0"/>
              <a:ext cx="2202311" cy="2963234"/>
            </a:xfrm>
            <a:custGeom>
              <a:avLst/>
              <a:gdLst/>
              <a:ahLst/>
              <a:cxnLst/>
              <a:rect l="l" t="t" r="r" b="b"/>
              <a:pathLst>
                <a:path w="2202311" h="2963234">
                  <a:moveTo>
                    <a:pt x="0" y="0"/>
                  </a:moveTo>
                  <a:lnTo>
                    <a:pt x="2202311" y="0"/>
                  </a:lnTo>
                  <a:lnTo>
                    <a:pt x="2202311" y="2963234"/>
                  </a:lnTo>
                  <a:lnTo>
                    <a:pt x="0" y="2963234"/>
                  </a:lnTo>
                  <a:close/>
                </a:path>
              </a:pathLst>
            </a:custGeom>
            <a:solidFill>
              <a:srgbClr val="5C7D52"/>
            </a:solidFill>
          </p:spPr>
        </p:sp>
        <p:sp>
          <p:nvSpPr>
            <p:cNvPr id="4" name="TextBox 4"/>
            <p:cNvSpPr txBox="1"/>
            <p:nvPr/>
          </p:nvSpPr>
          <p:spPr>
            <a:xfrm>
              <a:off x="0" y="-38100"/>
              <a:ext cx="2202311" cy="3001334"/>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419378" y="117367"/>
            <a:ext cx="8827472" cy="1210901"/>
          </a:xfrm>
          <a:prstGeom prst="rect">
            <a:avLst/>
          </a:prstGeom>
        </p:spPr>
        <p:txBody>
          <a:bodyPr lIns="0" tIns="0" rIns="0" bIns="0" rtlCol="0" anchor="t">
            <a:spAutoFit/>
          </a:bodyPr>
          <a:lstStyle/>
          <a:p>
            <a:pPr algn="ctr">
              <a:lnSpc>
                <a:spcPts val="9887"/>
              </a:lnSpc>
              <a:spcBef>
                <a:spcPct val="0"/>
              </a:spcBef>
            </a:pPr>
            <a:r>
              <a:rPr lang="en-US" sz="7062">
                <a:solidFill>
                  <a:srgbClr val="3B5F3E"/>
                </a:solidFill>
                <a:latin typeface="Balmy"/>
                <a:ea typeface="Balmy"/>
                <a:cs typeface="Balmy"/>
                <a:sym typeface="Balmy"/>
              </a:rPr>
              <a:t>Table of contents</a:t>
            </a:r>
          </a:p>
        </p:txBody>
      </p:sp>
      <p:grpSp>
        <p:nvGrpSpPr>
          <p:cNvPr id="12" name="Group 12"/>
          <p:cNvGrpSpPr/>
          <p:nvPr/>
        </p:nvGrpSpPr>
        <p:grpSpPr>
          <a:xfrm>
            <a:off x="8982716" y="8911632"/>
            <a:ext cx="6652375" cy="674190"/>
            <a:chOff x="0" y="0"/>
            <a:chExt cx="8869834" cy="898920"/>
          </a:xfrm>
        </p:grpSpPr>
        <p:sp>
          <p:nvSpPr>
            <p:cNvPr id="13" name="AutoShape 13"/>
            <p:cNvSpPr/>
            <p:nvPr/>
          </p:nvSpPr>
          <p:spPr>
            <a:xfrm>
              <a:off x="0" y="22299"/>
              <a:ext cx="8869834" cy="0"/>
            </a:xfrm>
            <a:prstGeom prst="line">
              <a:avLst/>
            </a:prstGeom>
            <a:ln w="44599" cap="flat">
              <a:solidFill>
                <a:srgbClr val="AEBE63"/>
              </a:solidFill>
              <a:prstDash val="sysDash"/>
              <a:headEnd type="none" w="sm" len="sm"/>
              <a:tailEnd type="none" w="sm" len="sm"/>
            </a:ln>
          </p:spPr>
        </p:sp>
        <p:sp>
          <p:nvSpPr>
            <p:cNvPr id="14" name="AutoShape 14"/>
            <p:cNvSpPr/>
            <p:nvPr/>
          </p:nvSpPr>
          <p:spPr>
            <a:xfrm>
              <a:off x="0" y="876620"/>
              <a:ext cx="8869834" cy="0"/>
            </a:xfrm>
            <a:prstGeom prst="line">
              <a:avLst/>
            </a:prstGeom>
            <a:ln w="44599" cap="flat">
              <a:solidFill>
                <a:srgbClr val="AEBE63"/>
              </a:solidFill>
              <a:prstDash val="sysDash"/>
              <a:headEnd type="none" w="sm" len="sm"/>
              <a:tailEnd type="none" w="sm" len="sm"/>
            </a:ln>
          </p:spPr>
        </p:sp>
      </p:grpSp>
      <p:sp>
        <p:nvSpPr>
          <p:cNvPr id="15" name="Freeform 15"/>
          <p:cNvSpPr/>
          <p:nvPr/>
        </p:nvSpPr>
        <p:spPr>
          <a:xfrm>
            <a:off x="8954977" y="9636281"/>
            <a:ext cx="401897" cy="377767"/>
          </a:xfrm>
          <a:custGeom>
            <a:avLst/>
            <a:gdLst/>
            <a:ahLst/>
            <a:cxnLst/>
            <a:rect l="l" t="t" r="r" b="b"/>
            <a:pathLst>
              <a:path w="401897" h="377767">
                <a:moveTo>
                  <a:pt x="0" y="0"/>
                </a:moveTo>
                <a:lnTo>
                  <a:pt x="401898" y="0"/>
                </a:lnTo>
                <a:lnTo>
                  <a:pt x="401898" y="377767"/>
                </a:lnTo>
                <a:lnTo>
                  <a:pt x="0" y="377767"/>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16" name="TextBox 16"/>
          <p:cNvSpPr txBox="1"/>
          <p:nvPr/>
        </p:nvSpPr>
        <p:spPr>
          <a:xfrm>
            <a:off x="9437305" y="9570004"/>
            <a:ext cx="3861196" cy="489053"/>
          </a:xfrm>
          <a:prstGeom prst="rect">
            <a:avLst/>
          </a:prstGeom>
        </p:spPr>
        <p:txBody>
          <a:bodyPr lIns="0" tIns="0" rIns="0" bIns="0" rtlCol="0" anchor="t">
            <a:spAutoFit/>
          </a:bodyPr>
          <a:lstStyle/>
          <a:p>
            <a:pPr algn="l">
              <a:lnSpc>
                <a:spcPts val="4019"/>
              </a:lnSpc>
              <a:spcBef>
                <a:spcPct val="0"/>
              </a:spcBef>
            </a:pPr>
            <a:r>
              <a:rPr lang="en-US" sz="2870" u="sng">
                <a:solidFill>
                  <a:srgbClr val="3B5F3E"/>
                </a:solidFill>
                <a:latin typeface="Dreaming Outloud Sans"/>
                <a:ea typeface="Dreaming Outloud Sans"/>
                <a:cs typeface="Dreaming Outloud Sans"/>
                <a:sym typeface="Dreaming Outloud Sans"/>
                <a:hlinkClick r:id="rId10" action="ppaction://hlinksldjump"/>
              </a:rPr>
              <a:t>End Your Presentation </a:t>
            </a:r>
          </a:p>
        </p:txBody>
      </p:sp>
      <p:grpSp>
        <p:nvGrpSpPr>
          <p:cNvPr id="17" name="Group 17"/>
          <p:cNvGrpSpPr/>
          <p:nvPr/>
        </p:nvGrpSpPr>
        <p:grpSpPr>
          <a:xfrm>
            <a:off x="8954977" y="7803664"/>
            <a:ext cx="6652375" cy="612668"/>
            <a:chOff x="0" y="0"/>
            <a:chExt cx="8869834" cy="816891"/>
          </a:xfrm>
        </p:grpSpPr>
        <p:sp>
          <p:nvSpPr>
            <p:cNvPr id="18" name="AutoShape 18"/>
            <p:cNvSpPr/>
            <p:nvPr/>
          </p:nvSpPr>
          <p:spPr>
            <a:xfrm>
              <a:off x="0" y="22299"/>
              <a:ext cx="8869834" cy="0"/>
            </a:xfrm>
            <a:prstGeom prst="line">
              <a:avLst/>
            </a:prstGeom>
            <a:ln w="44599" cap="flat">
              <a:solidFill>
                <a:srgbClr val="AEBE63"/>
              </a:solidFill>
              <a:prstDash val="sysDash"/>
              <a:headEnd type="none" w="sm" len="sm"/>
              <a:tailEnd type="none" w="sm" len="sm"/>
            </a:ln>
          </p:spPr>
        </p:sp>
        <p:sp>
          <p:nvSpPr>
            <p:cNvPr id="19" name="AutoShape 19"/>
            <p:cNvSpPr/>
            <p:nvPr/>
          </p:nvSpPr>
          <p:spPr>
            <a:xfrm>
              <a:off x="0" y="794591"/>
              <a:ext cx="8869834" cy="0"/>
            </a:xfrm>
            <a:prstGeom prst="line">
              <a:avLst/>
            </a:prstGeom>
            <a:ln w="44599" cap="flat">
              <a:solidFill>
                <a:srgbClr val="AEBE63"/>
              </a:solidFill>
              <a:prstDash val="sysDash"/>
              <a:headEnd type="none" w="sm" len="sm"/>
              <a:tailEnd type="none" w="sm" len="sm"/>
            </a:ln>
          </p:spPr>
        </p:sp>
      </p:grpSp>
      <p:sp>
        <p:nvSpPr>
          <p:cNvPr id="20" name="Freeform 20"/>
          <p:cNvSpPr/>
          <p:nvPr/>
        </p:nvSpPr>
        <p:spPr>
          <a:xfrm>
            <a:off x="8954977" y="7900057"/>
            <a:ext cx="401897" cy="377767"/>
          </a:xfrm>
          <a:custGeom>
            <a:avLst/>
            <a:gdLst/>
            <a:ahLst/>
            <a:cxnLst/>
            <a:rect l="l" t="t" r="r" b="b"/>
            <a:pathLst>
              <a:path w="401897" h="377767">
                <a:moveTo>
                  <a:pt x="0" y="0"/>
                </a:moveTo>
                <a:lnTo>
                  <a:pt x="401898" y="0"/>
                </a:lnTo>
                <a:lnTo>
                  <a:pt x="401898" y="377767"/>
                </a:lnTo>
                <a:lnTo>
                  <a:pt x="0" y="377767"/>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21" name="TextBox 21"/>
          <p:cNvSpPr txBox="1"/>
          <p:nvPr/>
        </p:nvSpPr>
        <p:spPr>
          <a:xfrm>
            <a:off x="9437305" y="7842907"/>
            <a:ext cx="2843860" cy="489053"/>
          </a:xfrm>
          <a:prstGeom prst="rect">
            <a:avLst/>
          </a:prstGeom>
        </p:spPr>
        <p:txBody>
          <a:bodyPr lIns="0" tIns="0" rIns="0" bIns="0" rtlCol="0" anchor="t">
            <a:spAutoFit/>
          </a:bodyPr>
          <a:lstStyle/>
          <a:p>
            <a:pPr algn="l">
              <a:lnSpc>
                <a:spcPts val="4019"/>
              </a:lnSpc>
              <a:spcBef>
                <a:spcPct val="0"/>
              </a:spcBef>
            </a:pPr>
            <a:r>
              <a:rPr lang="en-US" sz="2870" u="sng">
                <a:solidFill>
                  <a:srgbClr val="3B5F3E"/>
                </a:solidFill>
                <a:latin typeface="Dreaming Outloud Sans"/>
                <a:ea typeface="Dreaming Outloud Sans"/>
                <a:cs typeface="Dreaming Outloud Sans"/>
                <a:sym typeface="Dreaming Outloud Sans"/>
                <a:hlinkClick r:id="rId11" action="ppaction://hlinksldjump"/>
              </a:rPr>
              <a:t>Class Diagram</a:t>
            </a:r>
          </a:p>
        </p:txBody>
      </p:sp>
      <p:grpSp>
        <p:nvGrpSpPr>
          <p:cNvPr id="22" name="Group 22"/>
          <p:cNvGrpSpPr/>
          <p:nvPr/>
        </p:nvGrpSpPr>
        <p:grpSpPr>
          <a:xfrm>
            <a:off x="8954977" y="6607754"/>
            <a:ext cx="6652375" cy="674190"/>
            <a:chOff x="0" y="0"/>
            <a:chExt cx="8869834" cy="898920"/>
          </a:xfrm>
        </p:grpSpPr>
        <p:sp>
          <p:nvSpPr>
            <p:cNvPr id="23" name="AutoShape 23"/>
            <p:cNvSpPr/>
            <p:nvPr/>
          </p:nvSpPr>
          <p:spPr>
            <a:xfrm>
              <a:off x="0" y="22299"/>
              <a:ext cx="8869834" cy="0"/>
            </a:xfrm>
            <a:prstGeom prst="line">
              <a:avLst/>
            </a:prstGeom>
            <a:ln w="44599" cap="flat">
              <a:solidFill>
                <a:srgbClr val="AEBE63"/>
              </a:solidFill>
              <a:prstDash val="sysDash"/>
              <a:headEnd type="none" w="sm" len="sm"/>
              <a:tailEnd type="none" w="sm" len="sm"/>
            </a:ln>
          </p:spPr>
        </p:sp>
        <p:sp>
          <p:nvSpPr>
            <p:cNvPr id="24" name="AutoShape 24"/>
            <p:cNvSpPr/>
            <p:nvPr/>
          </p:nvSpPr>
          <p:spPr>
            <a:xfrm>
              <a:off x="0" y="876620"/>
              <a:ext cx="8869834" cy="0"/>
            </a:xfrm>
            <a:prstGeom prst="line">
              <a:avLst/>
            </a:prstGeom>
            <a:ln w="44599" cap="flat">
              <a:solidFill>
                <a:srgbClr val="AEBE63"/>
              </a:solidFill>
              <a:prstDash val="sysDash"/>
              <a:headEnd type="none" w="sm" len="sm"/>
              <a:tailEnd type="none" w="sm" len="sm"/>
            </a:ln>
          </p:spPr>
        </p:sp>
      </p:grpSp>
      <p:sp>
        <p:nvSpPr>
          <p:cNvPr id="25" name="Freeform 25"/>
          <p:cNvSpPr/>
          <p:nvPr/>
        </p:nvSpPr>
        <p:spPr>
          <a:xfrm>
            <a:off x="8954977" y="6760529"/>
            <a:ext cx="401897" cy="377767"/>
          </a:xfrm>
          <a:custGeom>
            <a:avLst/>
            <a:gdLst/>
            <a:ahLst/>
            <a:cxnLst/>
            <a:rect l="l" t="t" r="r" b="b"/>
            <a:pathLst>
              <a:path w="401897" h="377767">
                <a:moveTo>
                  <a:pt x="0" y="0"/>
                </a:moveTo>
                <a:lnTo>
                  <a:pt x="401898" y="0"/>
                </a:lnTo>
                <a:lnTo>
                  <a:pt x="401898" y="377767"/>
                </a:lnTo>
                <a:lnTo>
                  <a:pt x="0" y="377767"/>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26" name="TextBox 26"/>
          <p:cNvSpPr txBox="1"/>
          <p:nvPr/>
        </p:nvSpPr>
        <p:spPr>
          <a:xfrm>
            <a:off x="9437305" y="6694252"/>
            <a:ext cx="2843860" cy="489053"/>
          </a:xfrm>
          <a:prstGeom prst="rect">
            <a:avLst/>
          </a:prstGeom>
        </p:spPr>
        <p:txBody>
          <a:bodyPr lIns="0" tIns="0" rIns="0" bIns="0" rtlCol="0" anchor="t">
            <a:spAutoFit/>
          </a:bodyPr>
          <a:lstStyle/>
          <a:p>
            <a:pPr algn="l">
              <a:lnSpc>
                <a:spcPts val="4019"/>
              </a:lnSpc>
              <a:spcBef>
                <a:spcPct val="0"/>
              </a:spcBef>
            </a:pPr>
            <a:r>
              <a:rPr lang="en-US" sz="2870" u="sng">
                <a:solidFill>
                  <a:srgbClr val="3B5F3E"/>
                </a:solidFill>
                <a:latin typeface="Dreaming Outloud Sans"/>
                <a:ea typeface="Dreaming Outloud Sans"/>
                <a:cs typeface="Dreaming Outloud Sans"/>
                <a:sym typeface="Dreaming Outloud Sans"/>
                <a:hlinkClick r:id="rId12" action="ppaction://hlinksldjump"/>
              </a:rPr>
              <a:t>Sequence Diagram</a:t>
            </a:r>
          </a:p>
        </p:txBody>
      </p:sp>
      <p:grpSp>
        <p:nvGrpSpPr>
          <p:cNvPr id="27" name="Group 27"/>
          <p:cNvGrpSpPr/>
          <p:nvPr/>
        </p:nvGrpSpPr>
        <p:grpSpPr>
          <a:xfrm>
            <a:off x="8954977" y="5398371"/>
            <a:ext cx="6652375" cy="674190"/>
            <a:chOff x="0" y="0"/>
            <a:chExt cx="8869834" cy="898920"/>
          </a:xfrm>
        </p:grpSpPr>
        <p:sp>
          <p:nvSpPr>
            <p:cNvPr id="28" name="AutoShape 28"/>
            <p:cNvSpPr/>
            <p:nvPr/>
          </p:nvSpPr>
          <p:spPr>
            <a:xfrm>
              <a:off x="0" y="22299"/>
              <a:ext cx="8869834" cy="0"/>
            </a:xfrm>
            <a:prstGeom prst="line">
              <a:avLst/>
            </a:prstGeom>
            <a:ln w="44599" cap="flat">
              <a:solidFill>
                <a:srgbClr val="AEBE63"/>
              </a:solidFill>
              <a:prstDash val="sysDash"/>
              <a:headEnd type="none" w="sm" len="sm"/>
              <a:tailEnd type="none" w="sm" len="sm"/>
            </a:ln>
          </p:spPr>
        </p:sp>
        <p:sp>
          <p:nvSpPr>
            <p:cNvPr id="29" name="AutoShape 29"/>
            <p:cNvSpPr/>
            <p:nvPr/>
          </p:nvSpPr>
          <p:spPr>
            <a:xfrm>
              <a:off x="0" y="876620"/>
              <a:ext cx="8869834" cy="0"/>
            </a:xfrm>
            <a:prstGeom prst="line">
              <a:avLst/>
            </a:prstGeom>
            <a:ln w="44599" cap="flat">
              <a:solidFill>
                <a:srgbClr val="AEBE63"/>
              </a:solidFill>
              <a:prstDash val="sysDash"/>
              <a:headEnd type="none" w="sm" len="sm"/>
              <a:tailEnd type="none" w="sm" len="sm"/>
            </a:ln>
          </p:spPr>
        </p:sp>
      </p:grpSp>
      <p:sp>
        <p:nvSpPr>
          <p:cNvPr id="30" name="Freeform 30"/>
          <p:cNvSpPr/>
          <p:nvPr/>
        </p:nvSpPr>
        <p:spPr>
          <a:xfrm>
            <a:off x="8954977" y="5551146"/>
            <a:ext cx="401897" cy="377767"/>
          </a:xfrm>
          <a:custGeom>
            <a:avLst/>
            <a:gdLst/>
            <a:ahLst/>
            <a:cxnLst/>
            <a:rect l="l" t="t" r="r" b="b"/>
            <a:pathLst>
              <a:path w="401897" h="377767">
                <a:moveTo>
                  <a:pt x="0" y="0"/>
                </a:moveTo>
                <a:lnTo>
                  <a:pt x="401898" y="0"/>
                </a:lnTo>
                <a:lnTo>
                  <a:pt x="401898" y="377767"/>
                </a:lnTo>
                <a:lnTo>
                  <a:pt x="0" y="377767"/>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31" name="TextBox 31"/>
          <p:cNvSpPr txBox="1"/>
          <p:nvPr/>
        </p:nvSpPr>
        <p:spPr>
          <a:xfrm>
            <a:off x="9437305" y="5484868"/>
            <a:ext cx="2611501" cy="489053"/>
          </a:xfrm>
          <a:prstGeom prst="rect">
            <a:avLst/>
          </a:prstGeom>
        </p:spPr>
        <p:txBody>
          <a:bodyPr lIns="0" tIns="0" rIns="0" bIns="0" rtlCol="0" anchor="t">
            <a:spAutoFit/>
          </a:bodyPr>
          <a:lstStyle/>
          <a:p>
            <a:pPr algn="l">
              <a:lnSpc>
                <a:spcPts val="4019"/>
              </a:lnSpc>
              <a:spcBef>
                <a:spcPct val="0"/>
              </a:spcBef>
            </a:pPr>
            <a:r>
              <a:rPr lang="en-US" sz="2870" u="sng">
                <a:solidFill>
                  <a:srgbClr val="3B5F3E"/>
                </a:solidFill>
                <a:latin typeface="Dreaming Outloud Sans"/>
                <a:ea typeface="Dreaming Outloud Sans"/>
                <a:cs typeface="Dreaming Outloud Sans"/>
                <a:sym typeface="Dreaming Outloud Sans"/>
                <a:hlinkClick r:id="rId13" action="ppaction://hlinksldjump"/>
              </a:rPr>
              <a:t>Usecase Diagram</a:t>
            </a:r>
          </a:p>
        </p:txBody>
      </p:sp>
      <p:grpSp>
        <p:nvGrpSpPr>
          <p:cNvPr id="32" name="Group 32"/>
          <p:cNvGrpSpPr/>
          <p:nvPr/>
        </p:nvGrpSpPr>
        <p:grpSpPr>
          <a:xfrm>
            <a:off x="8931373" y="4286351"/>
            <a:ext cx="6652375" cy="620339"/>
            <a:chOff x="0" y="0"/>
            <a:chExt cx="8869834" cy="827119"/>
          </a:xfrm>
        </p:grpSpPr>
        <p:sp>
          <p:nvSpPr>
            <p:cNvPr id="33" name="AutoShape 33"/>
            <p:cNvSpPr/>
            <p:nvPr/>
          </p:nvSpPr>
          <p:spPr>
            <a:xfrm>
              <a:off x="0" y="22299"/>
              <a:ext cx="8869834" cy="0"/>
            </a:xfrm>
            <a:prstGeom prst="line">
              <a:avLst/>
            </a:prstGeom>
            <a:ln w="44599" cap="flat">
              <a:solidFill>
                <a:srgbClr val="AEBE63"/>
              </a:solidFill>
              <a:prstDash val="sysDash"/>
              <a:headEnd type="none" w="sm" len="sm"/>
              <a:tailEnd type="none" w="sm" len="sm"/>
            </a:ln>
          </p:spPr>
        </p:sp>
        <p:sp>
          <p:nvSpPr>
            <p:cNvPr id="34" name="AutoShape 34"/>
            <p:cNvSpPr/>
            <p:nvPr/>
          </p:nvSpPr>
          <p:spPr>
            <a:xfrm>
              <a:off x="0" y="804819"/>
              <a:ext cx="8869834" cy="0"/>
            </a:xfrm>
            <a:prstGeom prst="line">
              <a:avLst/>
            </a:prstGeom>
            <a:ln w="44599" cap="flat">
              <a:solidFill>
                <a:srgbClr val="AEBE63"/>
              </a:solidFill>
              <a:prstDash val="sysDash"/>
              <a:headEnd type="none" w="sm" len="sm"/>
              <a:tailEnd type="none" w="sm" len="sm"/>
            </a:ln>
          </p:spPr>
        </p:sp>
      </p:grpSp>
      <p:sp>
        <p:nvSpPr>
          <p:cNvPr id="35" name="Freeform 35"/>
          <p:cNvSpPr/>
          <p:nvPr/>
        </p:nvSpPr>
        <p:spPr>
          <a:xfrm>
            <a:off x="8954977" y="4400298"/>
            <a:ext cx="401897" cy="377767"/>
          </a:xfrm>
          <a:custGeom>
            <a:avLst/>
            <a:gdLst/>
            <a:ahLst/>
            <a:cxnLst/>
            <a:rect l="l" t="t" r="r" b="b"/>
            <a:pathLst>
              <a:path w="401897" h="377767">
                <a:moveTo>
                  <a:pt x="0" y="0"/>
                </a:moveTo>
                <a:lnTo>
                  <a:pt x="401898" y="0"/>
                </a:lnTo>
                <a:lnTo>
                  <a:pt x="401898" y="377767"/>
                </a:lnTo>
                <a:lnTo>
                  <a:pt x="0" y="377767"/>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36" name="TextBox 36"/>
          <p:cNvSpPr txBox="1"/>
          <p:nvPr/>
        </p:nvSpPr>
        <p:spPr>
          <a:xfrm>
            <a:off x="9496951" y="4333979"/>
            <a:ext cx="5223003" cy="493794"/>
          </a:xfrm>
          <a:prstGeom prst="rect">
            <a:avLst/>
          </a:prstGeom>
        </p:spPr>
        <p:txBody>
          <a:bodyPr lIns="0" tIns="0" rIns="0" bIns="0" rtlCol="0" anchor="t">
            <a:spAutoFit/>
          </a:bodyPr>
          <a:lstStyle/>
          <a:p>
            <a:pPr algn="l">
              <a:lnSpc>
                <a:spcPts val="4019"/>
              </a:lnSpc>
              <a:spcBef>
                <a:spcPct val="0"/>
              </a:spcBef>
            </a:pPr>
            <a:r>
              <a:rPr lang="en-US" sz="2870" u="sng">
                <a:solidFill>
                  <a:srgbClr val="3B5F3E"/>
                </a:solidFill>
                <a:latin typeface="Dreaming Outloud Sans"/>
                <a:ea typeface="Dreaming Outloud Sans"/>
                <a:cs typeface="Dreaming Outloud Sans"/>
                <a:sym typeface="Dreaming Outloud Sans"/>
                <a:hlinkClick r:id="rId14" action="ppaction://hlinksldjump"/>
              </a:rPr>
              <a:t>Non Functional Requirments</a:t>
            </a:r>
          </a:p>
        </p:txBody>
      </p:sp>
      <p:grpSp>
        <p:nvGrpSpPr>
          <p:cNvPr id="37" name="Group 37"/>
          <p:cNvGrpSpPr/>
          <p:nvPr/>
        </p:nvGrpSpPr>
        <p:grpSpPr>
          <a:xfrm>
            <a:off x="8954977" y="3030865"/>
            <a:ext cx="6652375" cy="674190"/>
            <a:chOff x="0" y="0"/>
            <a:chExt cx="8869834" cy="898920"/>
          </a:xfrm>
        </p:grpSpPr>
        <p:sp>
          <p:nvSpPr>
            <p:cNvPr id="38" name="AutoShape 38"/>
            <p:cNvSpPr/>
            <p:nvPr/>
          </p:nvSpPr>
          <p:spPr>
            <a:xfrm>
              <a:off x="0" y="22299"/>
              <a:ext cx="8869834" cy="0"/>
            </a:xfrm>
            <a:prstGeom prst="line">
              <a:avLst/>
            </a:prstGeom>
            <a:ln w="44599" cap="flat">
              <a:solidFill>
                <a:srgbClr val="AEBE63"/>
              </a:solidFill>
              <a:prstDash val="sysDash"/>
              <a:headEnd type="none" w="sm" len="sm"/>
              <a:tailEnd type="none" w="sm" len="sm"/>
            </a:ln>
          </p:spPr>
        </p:sp>
        <p:sp>
          <p:nvSpPr>
            <p:cNvPr id="39" name="AutoShape 39"/>
            <p:cNvSpPr/>
            <p:nvPr/>
          </p:nvSpPr>
          <p:spPr>
            <a:xfrm>
              <a:off x="0" y="876620"/>
              <a:ext cx="8869834" cy="0"/>
            </a:xfrm>
            <a:prstGeom prst="line">
              <a:avLst/>
            </a:prstGeom>
            <a:ln w="44599" cap="flat">
              <a:solidFill>
                <a:srgbClr val="AEBE63"/>
              </a:solidFill>
              <a:prstDash val="sysDash"/>
              <a:headEnd type="none" w="sm" len="sm"/>
              <a:tailEnd type="none" w="sm" len="sm"/>
            </a:ln>
          </p:spPr>
        </p:sp>
      </p:grpSp>
      <p:sp>
        <p:nvSpPr>
          <p:cNvPr id="40" name="Freeform 40"/>
          <p:cNvSpPr/>
          <p:nvPr/>
        </p:nvSpPr>
        <p:spPr>
          <a:xfrm>
            <a:off x="8954977" y="3183640"/>
            <a:ext cx="401897" cy="377767"/>
          </a:xfrm>
          <a:custGeom>
            <a:avLst/>
            <a:gdLst/>
            <a:ahLst/>
            <a:cxnLst/>
            <a:rect l="l" t="t" r="r" b="b"/>
            <a:pathLst>
              <a:path w="401897" h="377767">
                <a:moveTo>
                  <a:pt x="0" y="0"/>
                </a:moveTo>
                <a:lnTo>
                  <a:pt x="401898" y="0"/>
                </a:lnTo>
                <a:lnTo>
                  <a:pt x="401898" y="377767"/>
                </a:lnTo>
                <a:lnTo>
                  <a:pt x="0" y="377767"/>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41" name="TextBox 41"/>
          <p:cNvSpPr txBox="1"/>
          <p:nvPr/>
        </p:nvSpPr>
        <p:spPr>
          <a:xfrm>
            <a:off x="9496951" y="3110051"/>
            <a:ext cx="3042503" cy="493794"/>
          </a:xfrm>
          <a:prstGeom prst="rect">
            <a:avLst/>
          </a:prstGeom>
        </p:spPr>
        <p:txBody>
          <a:bodyPr lIns="0" tIns="0" rIns="0" bIns="0" rtlCol="0" anchor="t">
            <a:spAutoFit/>
          </a:bodyPr>
          <a:lstStyle/>
          <a:p>
            <a:pPr algn="l">
              <a:lnSpc>
                <a:spcPts val="4019"/>
              </a:lnSpc>
              <a:spcBef>
                <a:spcPct val="0"/>
              </a:spcBef>
            </a:pPr>
            <a:r>
              <a:rPr lang="en-US" sz="2870" u="sng">
                <a:solidFill>
                  <a:srgbClr val="3B5F3E"/>
                </a:solidFill>
                <a:latin typeface="Dreaming Outloud Sans"/>
                <a:ea typeface="Dreaming Outloud Sans"/>
                <a:cs typeface="Dreaming Outloud Sans"/>
                <a:sym typeface="Dreaming Outloud Sans"/>
                <a:hlinkClick r:id="rId15" action="ppaction://hlinksldjump"/>
              </a:rPr>
              <a:t>Project Objectives </a:t>
            </a:r>
          </a:p>
        </p:txBody>
      </p:sp>
      <p:sp>
        <p:nvSpPr>
          <p:cNvPr id="42" name="Freeform 42"/>
          <p:cNvSpPr/>
          <p:nvPr/>
        </p:nvSpPr>
        <p:spPr>
          <a:xfrm>
            <a:off x="8919447" y="8435382"/>
            <a:ext cx="449107" cy="422141"/>
          </a:xfrm>
          <a:custGeom>
            <a:avLst/>
            <a:gdLst/>
            <a:ahLst/>
            <a:cxnLst/>
            <a:rect l="l" t="t" r="r" b="b"/>
            <a:pathLst>
              <a:path w="449107" h="422141">
                <a:moveTo>
                  <a:pt x="0" y="0"/>
                </a:moveTo>
                <a:lnTo>
                  <a:pt x="449106" y="0"/>
                </a:lnTo>
                <a:lnTo>
                  <a:pt x="449106" y="422142"/>
                </a:lnTo>
                <a:lnTo>
                  <a:pt x="0" y="422142"/>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43" name="TextBox 43"/>
          <p:cNvSpPr txBox="1"/>
          <p:nvPr/>
        </p:nvSpPr>
        <p:spPr>
          <a:xfrm>
            <a:off x="9484514" y="8387757"/>
            <a:ext cx="2746538" cy="480185"/>
          </a:xfrm>
          <a:prstGeom prst="rect">
            <a:avLst/>
          </a:prstGeom>
        </p:spPr>
        <p:txBody>
          <a:bodyPr lIns="0" tIns="0" rIns="0" bIns="0" rtlCol="0" anchor="t">
            <a:spAutoFit/>
          </a:bodyPr>
          <a:lstStyle/>
          <a:p>
            <a:pPr algn="l">
              <a:lnSpc>
                <a:spcPts val="3983"/>
              </a:lnSpc>
              <a:spcBef>
                <a:spcPct val="0"/>
              </a:spcBef>
            </a:pPr>
            <a:r>
              <a:rPr lang="en-US" sz="2845" u="sng">
                <a:solidFill>
                  <a:srgbClr val="3B5F3E"/>
                </a:solidFill>
                <a:latin typeface="Dreaming Outloud Sans"/>
                <a:ea typeface="Dreaming Outloud Sans"/>
                <a:cs typeface="Dreaming Outloud Sans"/>
                <a:sym typeface="Dreaming Outloud Sans"/>
                <a:hlinkClick r:id="rId16" action="ppaction://hlinksldjump"/>
              </a:rPr>
              <a:t>Implementation</a:t>
            </a:r>
          </a:p>
        </p:txBody>
      </p:sp>
      <p:grpSp>
        <p:nvGrpSpPr>
          <p:cNvPr id="44" name="Group 44"/>
          <p:cNvGrpSpPr/>
          <p:nvPr/>
        </p:nvGrpSpPr>
        <p:grpSpPr>
          <a:xfrm>
            <a:off x="8954977" y="1781360"/>
            <a:ext cx="6652375" cy="674190"/>
            <a:chOff x="0" y="0"/>
            <a:chExt cx="8869834" cy="898920"/>
          </a:xfrm>
        </p:grpSpPr>
        <p:sp>
          <p:nvSpPr>
            <p:cNvPr id="45" name="AutoShape 45"/>
            <p:cNvSpPr/>
            <p:nvPr/>
          </p:nvSpPr>
          <p:spPr>
            <a:xfrm>
              <a:off x="0" y="22299"/>
              <a:ext cx="8869834" cy="0"/>
            </a:xfrm>
            <a:prstGeom prst="line">
              <a:avLst/>
            </a:prstGeom>
            <a:ln w="44599" cap="flat">
              <a:solidFill>
                <a:srgbClr val="AEBE63"/>
              </a:solidFill>
              <a:prstDash val="sysDash"/>
              <a:headEnd type="none" w="sm" len="sm"/>
              <a:tailEnd type="none" w="sm" len="sm"/>
            </a:ln>
          </p:spPr>
        </p:sp>
        <p:sp>
          <p:nvSpPr>
            <p:cNvPr id="46" name="AutoShape 46"/>
            <p:cNvSpPr/>
            <p:nvPr/>
          </p:nvSpPr>
          <p:spPr>
            <a:xfrm>
              <a:off x="0" y="876620"/>
              <a:ext cx="8869834" cy="0"/>
            </a:xfrm>
            <a:prstGeom prst="line">
              <a:avLst/>
            </a:prstGeom>
            <a:ln w="44599" cap="flat">
              <a:solidFill>
                <a:srgbClr val="AEBE63"/>
              </a:solidFill>
              <a:prstDash val="sysDash"/>
              <a:headEnd type="none" w="sm" len="sm"/>
              <a:tailEnd type="none" w="sm" len="sm"/>
            </a:ln>
          </p:spPr>
        </p:sp>
      </p:grpSp>
      <p:sp>
        <p:nvSpPr>
          <p:cNvPr id="47" name="Freeform 47"/>
          <p:cNvSpPr/>
          <p:nvPr/>
        </p:nvSpPr>
        <p:spPr>
          <a:xfrm>
            <a:off x="8954977" y="1889647"/>
            <a:ext cx="401897" cy="377767"/>
          </a:xfrm>
          <a:custGeom>
            <a:avLst/>
            <a:gdLst/>
            <a:ahLst/>
            <a:cxnLst/>
            <a:rect l="l" t="t" r="r" b="b"/>
            <a:pathLst>
              <a:path w="401897" h="377767">
                <a:moveTo>
                  <a:pt x="0" y="0"/>
                </a:moveTo>
                <a:lnTo>
                  <a:pt x="401898" y="0"/>
                </a:lnTo>
                <a:lnTo>
                  <a:pt x="401898" y="377766"/>
                </a:lnTo>
                <a:lnTo>
                  <a:pt x="0" y="377766"/>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48" name="TextBox 48"/>
          <p:cNvSpPr txBox="1"/>
          <p:nvPr/>
        </p:nvSpPr>
        <p:spPr>
          <a:xfrm>
            <a:off x="9484514" y="1888492"/>
            <a:ext cx="3513489" cy="493794"/>
          </a:xfrm>
          <a:prstGeom prst="rect">
            <a:avLst/>
          </a:prstGeom>
        </p:spPr>
        <p:txBody>
          <a:bodyPr lIns="0" tIns="0" rIns="0" bIns="0" rtlCol="0" anchor="t">
            <a:spAutoFit/>
          </a:bodyPr>
          <a:lstStyle/>
          <a:p>
            <a:pPr algn="l">
              <a:lnSpc>
                <a:spcPts val="4019"/>
              </a:lnSpc>
              <a:spcBef>
                <a:spcPct val="0"/>
              </a:spcBef>
            </a:pPr>
            <a:r>
              <a:rPr lang="en-US" sz="2870" u="sng">
                <a:solidFill>
                  <a:srgbClr val="3B5F3E"/>
                </a:solidFill>
                <a:latin typeface="Dreaming Outloud Sans"/>
                <a:ea typeface="Dreaming Outloud Sans"/>
                <a:cs typeface="Dreaming Outloud Sans"/>
                <a:sym typeface="Dreaming Outloud Sans"/>
                <a:hlinkClick r:id="rId17" action="ppaction://hlinksldjump"/>
              </a:rPr>
              <a:t>Problem Statement </a:t>
            </a:r>
          </a:p>
        </p:txBody>
      </p:sp>
      <p:sp>
        <p:nvSpPr>
          <p:cNvPr id="49" name="Freeform 49"/>
          <p:cNvSpPr/>
          <p:nvPr/>
        </p:nvSpPr>
        <p:spPr>
          <a:xfrm>
            <a:off x="8954977" y="2588090"/>
            <a:ext cx="449107" cy="422141"/>
          </a:xfrm>
          <a:custGeom>
            <a:avLst/>
            <a:gdLst/>
            <a:ahLst/>
            <a:cxnLst/>
            <a:rect l="l" t="t" r="r" b="b"/>
            <a:pathLst>
              <a:path w="449107" h="422141">
                <a:moveTo>
                  <a:pt x="0" y="0"/>
                </a:moveTo>
                <a:lnTo>
                  <a:pt x="449107" y="0"/>
                </a:lnTo>
                <a:lnTo>
                  <a:pt x="449107" y="422141"/>
                </a:lnTo>
                <a:lnTo>
                  <a:pt x="0" y="422141"/>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50" name="TextBox 50"/>
          <p:cNvSpPr txBox="1"/>
          <p:nvPr/>
        </p:nvSpPr>
        <p:spPr>
          <a:xfrm>
            <a:off x="9475146" y="2469487"/>
            <a:ext cx="2297535" cy="475987"/>
          </a:xfrm>
          <a:prstGeom prst="rect">
            <a:avLst/>
          </a:prstGeom>
        </p:spPr>
        <p:txBody>
          <a:bodyPr lIns="0" tIns="0" rIns="0" bIns="0" rtlCol="0" anchor="t">
            <a:spAutoFit/>
          </a:bodyPr>
          <a:lstStyle/>
          <a:p>
            <a:pPr algn="l">
              <a:lnSpc>
                <a:spcPts val="3983"/>
              </a:lnSpc>
              <a:spcBef>
                <a:spcPct val="0"/>
              </a:spcBef>
            </a:pPr>
            <a:r>
              <a:rPr lang="en-US" sz="2845" u="sng">
                <a:solidFill>
                  <a:srgbClr val="3B5F3E"/>
                </a:solidFill>
                <a:latin typeface="Dreaming Outloud Sans"/>
                <a:ea typeface="Dreaming Outloud Sans"/>
                <a:cs typeface="Dreaming Outloud Sans"/>
                <a:sym typeface="Dreaming Outloud Sans"/>
                <a:hlinkClick r:id="rId18" action="ppaction://hlinksldjump"/>
              </a:rPr>
              <a:t>Project Goals </a:t>
            </a:r>
          </a:p>
        </p:txBody>
      </p:sp>
      <p:sp>
        <p:nvSpPr>
          <p:cNvPr id="51" name="Freeform 51"/>
          <p:cNvSpPr/>
          <p:nvPr/>
        </p:nvSpPr>
        <p:spPr>
          <a:xfrm>
            <a:off x="8931373" y="3765218"/>
            <a:ext cx="449107" cy="422141"/>
          </a:xfrm>
          <a:custGeom>
            <a:avLst/>
            <a:gdLst/>
            <a:ahLst/>
            <a:cxnLst/>
            <a:rect l="l" t="t" r="r" b="b"/>
            <a:pathLst>
              <a:path w="449107" h="422141">
                <a:moveTo>
                  <a:pt x="0" y="0"/>
                </a:moveTo>
                <a:lnTo>
                  <a:pt x="449106" y="0"/>
                </a:lnTo>
                <a:lnTo>
                  <a:pt x="449106" y="422142"/>
                </a:lnTo>
                <a:lnTo>
                  <a:pt x="0" y="422142"/>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52" name="TextBox 52"/>
          <p:cNvSpPr txBox="1"/>
          <p:nvPr/>
        </p:nvSpPr>
        <p:spPr>
          <a:xfrm>
            <a:off x="9475146" y="3734167"/>
            <a:ext cx="3823355" cy="475987"/>
          </a:xfrm>
          <a:prstGeom prst="rect">
            <a:avLst/>
          </a:prstGeom>
        </p:spPr>
        <p:txBody>
          <a:bodyPr lIns="0" tIns="0" rIns="0" bIns="0" rtlCol="0" anchor="t">
            <a:spAutoFit/>
          </a:bodyPr>
          <a:lstStyle/>
          <a:p>
            <a:pPr algn="l">
              <a:lnSpc>
                <a:spcPts val="3983"/>
              </a:lnSpc>
              <a:spcBef>
                <a:spcPct val="0"/>
              </a:spcBef>
            </a:pPr>
            <a:r>
              <a:rPr lang="en-US" sz="2845" u="sng">
                <a:solidFill>
                  <a:srgbClr val="3B5F3E"/>
                </a:solidFill>
                <a:latin typeface="Dreaming Outloud Sans"/>
                <a:ea typeface="Dreaming Outloud Sans"/>
                <a:cs typeface="Dreaming Outloud Sans"/>
                <a:sym typeface="Dreaming Outloud Sans"/>
                <a:hlinkClick r:id="rId19" action="ppaction://hlinksldjump"/>
              </a:rPr>
              <a:t>Functional Requiemenets </a:t>
            </a:r>
          </a:p>
        </p:txBody>
      </p:sp>
      <p:sp>
        <p:nvSpPr>
          <p:cNvPr id="53" name="Freeform 53"/>
          <p:cNvSpPr/>
          <p:nvPr/>
        </p:nvSpPr>
        <p:spPr>
          <a:xfrm>
            <a:off x="8939106" y="4894892"/>
            <a:ext cx="449107" cy="422141"/>
          </a:xfrm>
          <a:custGeom>
            <a:avLst/>
            <a:gdLst/>
            <a:ahLst/>
            <a:cxnLst/>
            <a:rect l="l" t="t" r="r" b="b"/>
            <a:pathLst>
              <a:path w="449107" h="422141">
                <a:moveTo>
                  <a:pt x="0" y="0"/>
                </a:moveTo>
                <a:lnTo>
                  <a:pt x="449107" y="0"/>
                </a:lnTo>
                <a:lnTo>
                  <a:pt x="449107" y="422141"/>
                </a:lnTo>
                <a:lnTo>
                  <a:pt x="0" y="422141"/>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54" name="TextBox 54"/>
          <p:cNvSpPr txBox="1"/>
          <p:nvPr/>
        </p:nvSpPr>
        <p:spPr>
          <a:xfrm>
            <a:off x="9496951" y="4868590"/>
            <a:ext cx="2123095" cy="475987"/>
          </a:xfrm>
          <a:prstGeom prst="rect">
            <a:avLst/>
          </a:prstGeom>
        </p:spPr>
        <p:txBody>
          <a:bodyPr lIns="0" tIns="0" rIns="0" bIns="0" rtlCol="0" anchor="t">
            <a:spAutoFit/>
          </a:bodyPr>
          <a:lstStyle/>
          <a:p>
            <a:pPr algn="l">
              <a:lnSpc>
                <a:spcPts val="3983"/>
              </a:lnSpc>
              <a:spcBef>
                <a:spcPct val="0"/>
              </a:spcBef>
            </a:pPr>
            <a:r>
              <a:rPr lang="en-US" sz="2845" u="sng">
                <a:solidFill>
                  <a:srgbClr val="3B5F3E"/>
                </a:solidFill>
                <a:latin typeface="Dreaming Outloud Sans"/>
                <a:ea typeface="Dreaming Outloud Sans"/>
                <a:cs typeface="Dreaming Outloud Sans"/>
                <a:sym typeface="Dreaming Outloud Sans"/>
                <a:hlinkClick r:id="rId20" action="ppaction://hlinksldjump"/>
              </a:rPr>
              <a:t>UML Design </a:t>
            </a:r>
          </a:p>
        </p:txBody>
      </p:sp>
      <p:sp>
        <p:nvSpPr>
          <p:cNvPr id="55" name="Freeform 55"/>
          <p:cNvSpPr/>
          <p:nvPr/>
        </p:nvSpPr>
        <p:spPr>
          <a:xfrm>
            <a:off x="8982716" y="7293422"/>
            <a:ext cx="449107" cy="422141"/>
          </a:xfrm>
          <a:custGeom>
            <a:avLst/>
            <a:gdLst/>
            <a:ahLst/>
            <a:cxnLst/>
            <a:rect l="l" t="t" r="r" b="b"/>
            <a:pathLst>
              <a:path w="449107" h="422141">
                <a:moveTo>
                  <a:pt x="0" y="0"/>
                </a:moveTo>
                <a:lnTo>
                  <a:pt x="449106" y="0"/>
                </a:lnTo>
                <a:lnTo>
                  <a:pt x="449106" y="422142"/>
                </a:lnTo>
                <a:lnTo>
                  <a:pt x="0" y="422142"/>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56" name="TextBox 56"/>
          <p:cNvSpPr txBox="1"/>
          <p:nvPr/>
        </p:nvSpPr>
        <p:spPr>
          <a:xfrm>
            <a:off x="9496951" y="7266548"/>
            <a:ext cx="3365979" cy="480185"/>
          </a:xfrm>
          <a:prstGeom prst="rect">
            <a:avLst/>
          </a:prstGeom>
        </p:spPr>
        <p:txBody>
          <a:bodyPr lIns="0" tIns="0" rIns="0" bIns="0" rtlCol="0" anchor="t">
            <a:spAutoFit/>
          </a:bodyPr>
          <a:lstStyle/>
          <a:p>
            <a:pPr algn="l">
              <a:lnSpc>
                <a:spcPts val="3983"/>
              </a:lnSpc>
              <a:spcBef>
                <a:spcPct val="0"/>
              </a:spcBef>
            </a:pPr>
            <a:r>
              <a:rPr lang="en-US" sz="2845" u="sng">
                <a:solidFill>
                  <a:srgbClr val="3B5F3E"/>
                </a:solidFill>
                <a:latin typeface="Dreaming Outloud Sans"/>
                <a:ea typeface="Dreaming Outloud Sans"/>
                <a:cs typeface="Dreaming Outloud Sans"/>
                <a:sym typeface="Dreaming Outloud Sans"/>
                <a:hlinkClick r:id="rId21" action="ppaction://hlinksldjump"/>
              </a:rPr>
              <a:t>Misuse case Diagram</a:t>
            </a:r>
          </a:p>
        </p:txBody>
      </p:sp>
      <p:sp>
        <p:nvSpPr>
          <p:cNvPr id="57" name="Freeform 57"/>
          <p:cNvSpPr/>
          <p:nvPr/>
        </p:nvSpPr>
        <p:spPr>
          <a:xfrm>
            <a:off x="8960911" y="6137767"/>
            <a:ext cx="449107" cy="422141"/>
          </a:xfrm>
          <a:custGeom>
            <a:avLst/>
            <a:gdLst/>
            <a:ahLst/>
            <a:cxnLst/>
            <a:rect l="l" t="t" r="r" b="b"/>
            <a:pathLst>
              <a:path w="449107" h="422141">
                <a:moveTo>
                  <a:pt x="0" y="0"/>
                </a:moveTo>
                <a:lnTo>
                  <a:pt x="449107" y="0"/>
                </a:lnTo>
                <a:lnTo>
                  <a:pt x="449107" y="422141"/>
                </a:lnTo>
                <a:lnTo>
                  <a:pt x="0" y="422141"/>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58" name="TextBox 58"/>
          <p:cNvSpPr txBox="1"/>
          <p:nvPr/>
        </p:nvSpPr>
        <p:spPr>
          <a:xfrm>
            <a:off x="9475146" y="6110893"/>
            <a:ext cx="2806019" cy="480185"/>
          </a:xfrm>
          <a:prstGeom prst="rect">
            <a:avLst/>
          </a:prstGeom>
        </p:spPr>
        <p:txBody>
          <a:bodyPr lIns="0" tIns="0" rIns="0" bIns="0" rtlCol="0" anchor="t">
            <a:spAutoFit/>
          </a:bodyPr>
          <a:lstStyle/>
          <a:p>
            <a:pPr algn="l">
              <a:lnSpc>
                <a:spcPts val="3983"/>
              </a:lnSpc>
              <a:spcBef>
                <a:spcPct val="0"/>
              </a:spcBef>
            </a:pPr>
            <a:r>
              <a:rPr lang="en-US" sz="2845" u="sng">
                <a:solidFill>
                  <a:srgbClr val="3B5F3E"/>
                </a:solidFill>
                <a:latin typeface="Dreaming Outloud Sans"/>
                <a:ea typeface="Dreaming Outloud Sans"/>
                <a:cs typeface="Dreaming Outloud Sans"/>
                <a:sym typeface="Dreaming Outloud Sans"/>
                <a:hlinkClick r:id="rId22" action="ppaction://hlinksldjump"/>
              </a:rPr>
              <a:t>Activity Diagram</a:t>
            </a:r>
          </a:p>
        </p:txBody>
      </p:sp>
      <p:sp>
        <p:nvSpPr>
          <p:cNvPr id="59" name="Freeform 59"/>
          <p:cNvSpPr/>
          <p:nvPr/>
        </p:nvSpPr>
        <p:spPr>
          <a:xfrm>
            <a:off x="8960911" y="8986404"/>
            <a:ext cx="449107" cy="422141"/>
          </a:xfrm>
          <a:custGeom>
            <a:avLst/>
            <a:gdLst/>
            <a:ahLst/>
            <a:cxnLst/>
            <a:rect l="l" t="t" r="r" b="b"/>
            <a:pathLst>
              <a:path w="449107" h="422141">
                <a:moveTo>
                  <a:pt x="0" y="0"/>
                </a:moveTo>
                <a:lnTo>
                  <a:pt x="449107" y="0"/>
                </a:lnTo>
                <a:lnTo>
                  <a:pt x="449107" y="422141"/>
                </a:lnTo>
                <a:lnTo>
                  <a:pt x="0" y="422141"/>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60" name="TextBox 60"/>
          <p:cNvSpPr txBox="1"/>
          <p:nvPr/>
        </p:nvSpPr>
        <p:spPr>
          <a:xfrm>
            <a:off x="9475146" y="8959530"/>
            <a:ext cx="4281789" cy="480185"/>
          </a:xfrm>
          <a:prstGeom prst="rect">
            <a:avLst/>
          </a:prstGeom>
        </p:spPr>
        <p:txBody>
          <a:bodyPr lIns="0" tIns="0" rIns="0" bIns="0" rtlCol="0" anchor="t">
            <a:spAutoFit/>
          </a:bodyPr>
          <a:lstStyle/>
          <a:p>
            <a:pPr algn="l">
              <a:lnSpc>
                <a:spcPts val="3983"/>
              </a:lnSpc>
              <a:spcBef>
                <a:spcPct val="0"/>
              </a:spcBef>
            </a:pPr>
            <a:r>
              <a:rPr lang="en-US" sz="2845" u="sng">
                <a:solidFill>
                  <a:srgbClr val="3B5F3E"/>
                </a:solidFill>
                <a:latin typeface="Dreaming Outloud Sans"/>
                <a:ea typeface="Dreaming Outloud Sans"/>
                <a:cs typeface="Dreaming Outloud Sans"/>
                <a:sym typeface="Dreaming Outloud Sans"/>
                <a:hlinkClick r:id="rId23" action="ppaction://hlinksldjump"/>
              </a:rPr>
              <a:t>Conclusion and Summary </a:t>
            </a:r>
          </a:p>
        </p:txBody>
      </p:sp>
      <p:sp>
        <p:nvSpPr>
          <p:cNvPr id="61" name="Freeform 61"/>
          <p:cNvSpPr/>
          <p:nvPr/>
        </p:nvSpPr>
        <p:spPr>
          <a:xfrm>
            <a:off x="8919447" y="1292544"/>
            <a:ext cx="449107" cy="422141"/>
          </a:xfrm>
          <a:custGeom>
            <a:avLst/>
            <a:gdLst/>
            <a:ahLst/>
            <a:cxnLst/>
            <a:rect l="l" t="t" r="r" b="b"/>
            <a:pathLst>
              <a:path w="449107" h="422141">
                <a:moveTo>
                  <a:pt x="0" y="0"/>
                </a:moveTo>
                <a:lnTo>
                  <a:pt x="449106" y="0"/>
                </a:lnTo>
                <a:lnTo>
                  <a:pt x="449106" y="422141"/>
                </a:lnTo>
                <a:lnTo>
                  <a:pt x="0" y="422141"/>
                </a:lnTo>
                <a:lnTo>
                  <a:pt x="0" y="0"/>
                </a:lnTo>
                <a:close/>
              </a:path>
            </a:pathLst>
          </a:custGeom>
          <a:blipFill>
            <a:blip r:embed="rId2">
              <a:extLst>
                <a:ext uri="{96DAC541-7B7A-43D3-8B79-37D633B846F1}">
                  <asvg:svgBlip xmlns="" xmlns:asvg="http://schemas.microsoft.com/office/drawing/2016/SVG/main" r:embed="rId9"/>
                </a:ext>
              </a:extLst>
            </a:blip>
            <a:stretch>
              <a:fillRect t="-65349" r="-86641"/>
            </a:stretch>
          </a:blipFill>
        </p:spPr>
      </p:sp>
      <p:sp>
        <p:nvSpPr>
          <p:cNvPr id="62" name="TextBox 62"/>
          <p:cNvSpPr txBox="1"/>
          <p:nvPr/>
        </p:nvSpPr>
        <p:spPr>
          <a:xfrm>
            <a:off x="9496951" y="1295849"/>
            <a:ext cx="2833471" cy="512961"/>
          </a:xfrm>
          <a:prstGeom prst="rect">
            <a:avLst/>
          </a:prstGeom>
        </p:spPr>
        <p:txBody>
          <a:bodyPr lIns="0" tIns="0" rIns="0" bIns="0" rtlCol="0" anchor="t">
            <a:spAutoFit/>
          </a:bodyPr>
          <a:lstStyle/>
          <a:p>
            <a:pPr algn="l">
              <a:lnSpc>
                <a:spcPts val="3983"/>
              </a:lnSpc>
              <a:spcBef>
                <a:spcPct val="0"/>
              </a:spcBef>
            </a:pPr>
            <a:r>
              <a:rPr lang="en-US" sz="2845" u="sng" dirty="0">
                <a:solidFill>
                  <a:srgbClr val="3B5F3E"/>
                </a:solidFill>
                <a:latin typeface="Dreaming Outloud Sans"/>
                <a:ea typeface="Dreaming Outloud Sans"/>
                <a:cs typeface="Dreaming Outloud Sans"/>
                <a:sym typeface="Dreaming Outloud Sans"/>
                <a:hlinkClick r:id="rId24" action="ppaction://hlinksldjump"/>
              </a:rPr>
              <a:t>Introduction</a:t>
            </a:r>
            <a:endParaRPr lang="en-US" sz="2845" u="sng" dirty="0">
              <a:solidFill>
                <a:srgbClr val="3B5F3E"/>
              </a:solidFill>
              <a:latin typeface="Dreaming Outloud Sans"/>
              <a:ea typeface="Dreaming Outloud Sans"/>
              <a:cs typeface="Dreaming Outloud Sans"/>
              <a:sym typeface="Dreaming Outloud San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AutoShape 3"/>
          <p:cNvSpPr/>
          <p:nvPr/>
        </p:nvSpPr>
        <p:spPr>
          <a:xfrm>
            <a:off x="5355324" y="3737098"/>
            <a:ext cx="7577353" cy="0"/>
          </a:xfrm>
          <a:prstGeom prst="line">
            <a:avLst/>
          </a:prstGeom>
          <a:ln w="38100" cap="flat">
            <a:solidFill>
              <a:srgbClr val="AEBE63"/>
            </a:solidFill>
            <a:prstDash val="sysDash"/>
            <a:headEnd type="none" w="sm" len="sm"/>
            <a:tailEnd type="none" w="sm" len="sm"/>
          </a:ln>
        </p:spPr>
      </p:sp>
      <p:sp>
        <p:nvSpPr>
          <p:cNvPr id="12" name="TextBox 12"/>
          <p:cNvSpPr txBox="1"/>
          <p:nvPr/>
        </p:nvSpPr>
        <p:spPr>
          <a:xfrm>
            <a:off x="3314907" y="3895780"/>
            <a:ext cx="11658186" cy="4190365"/>
          </a:xfrm>
          <a:prstGeom prst="rect">
            <a:avLst/>
          </a:prstGeom>
        </p:spPr>
        <p:txBody>
          <a:bodyPr lIns="0" tIns="0" rIns="0" bIns="0" rtlCol="0" anchor="t">
            <a:spAutoFit/>
          </a:bodyPr>
          <a:lstStyle/>
          <a:p>
            <a:pPr algn="ctr">
              <a:lnSpc>
                <a:spcPts val="4759"/>
              </a:lnSpc>
              <a:spcBef>
                <a:spcPct val="0"/>
              </a:spcBef>
            </a:pPr>
            <a:r>
              <a:rPr lang="en-US" sz="3399">
                <a:solidFill>
                  <a:srgbClr val="3B5F3E"/>
                </a:solidFill>
                <a:latin typeface="Dreaming Outloud Sans"/>
                <a:ea typeface="Dreaming Outloud Sans"/>
                <a:cs typeface="Dreaming Outloud Sans"/>
                <a:sym typeface="Dreaming Outloud Sans"/>
              </a:rPr>
              <a:t>Nutrition Tracker is a digital platform designed to bridge the gap between people seeking better health and the professional nutritionists who can guide them. Instead of searching for advice online or booking expensive in-person consultations, users get a structured, personalized experience, from setting their goals to receiving a custom meal plan, all in one place.</a:t>
            </a:r>
          </a:p>
          <a:p>
            <a:pPr algn="ctr">
              <a:lnSpc>
                <a:spcPts val="4759"/>
              </a:lnSpc>
              <a:spcBef>
                <a:spcPct val="0"/>
              </a:spcBef>
            </a:pPr>
            <a:endParaRPr lang="en-US" sz="3399">
              <a:solidFill>
                <a:srgbClr val="3B5F3E"/>
              </a:solidFill>
              <a:latin typeface="Dreaming Outloud Sans"/>
              <a:ea typeface="Dreaming Outloud Sans"/>
              <a:cs typeface="Dreaming Outloud Sans"/>
              <a:sym typeface="Dreaming Outloud Sans"/>
            </a:endParaRPr>
          </a:p>
        </p:txBody>
      </p:sp>
      <p:sp>
        <p:nvSpPr>
          <p:cNvPr id="19" name="Freeform 19">
            <a:hlinkClick r:id="rId4" action="ppaction://hlinksldjump"/>
          </p:cNvPr>
          <p:cNvSpPr/>
          <p:nvPr/>
        </p:nvSpPr>
        <p:spPr>
          <a:xfrm>
            <a:off x="1599012" y="188764"/>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5">
              <a:extLst>
                <a:ext uri="{96DAC541-7B7A-43D3-8B79-37D633B846F1}">
                  <asvg:svgBlip xmlns="" xmlns:asvg="http://schemas.microsoft.com/office/drawing/2016/SVG/main" r:embed="rId24"/>
                </a:ext>
              </a:extLst>
            </a:blip>
            <a:stretch>
              <a:fillRect/>
            </a:stretch>
          </a:blipFill>
        </p:spPr>
      </p:sp>
      <p:sp>
        <p:nvSpPr>
          <p:cNvPr id="20" name="TextBox 20"/>
          <p:cNvSpPr txBox="1"/>
          <p:nvPr/>
        </p:nvSpPr>
        <p:spPr>
          <a:xfrm>
            <a:off x="5105354" y="2607435"/>
            <a:ext cx="8077292" cy="1110700"/>
          </a:xfrm>
          <a:prstGeom prst="rect">
            <a:avLst/>
          </a:prstGeom>
        </p:spPr>
        <p:txBody>
          <a:bodyPr lIns="0" tIns="0" rIns="0" bIns="0" rtlCol="0" anchor="t">
            <a:spAutoFit/>
          </a:bodyPr>
          <a:lstStyle/>
          <a:p>
            <a:pPr algn="ctr">
              <a:lnSpc>
                <a:spcPts val="9046"/>
              </a:lnSpc>
              <a:spcBef>
                <a:spcPct val="0"/>
              </a:spcBef>
            </a:pPr>
            <a:r>
              <a:rPr lang="en-US" sz="6462">
                <a:solidFill>
                  <a:srgbClr val="3B5F3E"/>
                </a:solidFill>
                <a:latin typeface="Balmy"/>
                <a:ea typeface="Balmy"/>
                <a:cs typeface="Balmy"/>
                <a:sym typeface="Balmy"/>
              </a:rPr>
              <a:t>Introduction</a:t>
            </a:r>
          </a:p>
        </p:txBody>
      </p:sp>
      <p:sp>
        <p:nvSpPr>
          <p:cNvPr id="21" name="Freeform 21">
            <a:hlinkClick r:id="rId4" action="ppaction://hlinksldjump"/>
          </p:cNvPr>
          <p:cNvSpPr/>
          <p:nvPr/>
        </p:nvSpPr>
        <p:spPr>
          <a:xfrm>
            <a:off x="1599012" y="162885"/>
            <a:ext cx="711498" cy="692094"/>
          </a:xfrm>
          <a:custGeom>
            <a:avLst/>
            <a:gdLst/>
            <a:ahLst/>
            <a:cxnLst/>
            <a:rect l="l" t="t" r="r" b="b"/>
            <a:pathLst>
              <a:path w="711498" h="692094">
                <a:moveTo>
                  <a:pt x="0" y="0"/>
                </a:moveTo>
                <a:lnTo>
                  <a:pt x="711498" y="0"/>
                </a:lnTo>
                <a:lnTo>
                  <a:pt x="711498" y="692094"/>
                </a:lnTo>
                <a:lnTo>
                  <a:pt x="0" y="692094"/>
                </a:lnTo>
                <a:lnTo>
                  <a:pt x="0" y="0"/>
                </a:lnTo>
                <a:close/>
              </a:path>
            </a:pathLst>
          </a:custGeom>
          <a:blipFill>
            <a:blip r:embed="rId5">
              <a:extLst>
                <a:ext uri="{96DAC541-7B7A-43D3-8B79-37D633B846F1}">
                  <asvg:svgBlip xmlns="" xmlns:asvg="http://schemas.microsoft.com/office/drawing/2016/SVG/main" r:embed="rId24"/>
                </a:ext>
              </a:extLst>
            </a:blip>
            <a:stretch>
              <a:fillRect/>
            </a:stretch>
          </a:blipFill>
        </p:spPr>
      </p:sp>
      <p:sp>
        <p:nvSpPr>
          <p:cNvPr id="22" name="Freeform 22">
            <a:hlinkClick r:id="rId4" action="ppaction://hlinksldjump"/>
          </p:cNvPr>
          <p:cNvSpPr/>
          <p:nvPr/>
        </p:nvSpPr>
        <p:spPr>
          <a:xfrm>
            <a:off x="1599012" y="137006"/>
            <a:ext cx="711498" cy="692094"/>
          </a:xfrm>
          <a:custGeom>
            <a:avLst/>
            <a:gdLst/>
            <a:ahLst/>
            <a:cxnLst/>
            <a:rect l="l" t="t" r="r" b="b"/>
            <a:pathLst>
              <a:path w="711498" h="692094">
                <a:moveTo>
                  <a:pt x="0" y="0"/>
                </a:moveTo>
                <a:lnTo>
                  <a:pt x="711498" y="0"/>
                </a:lnTo>
                <a:lnTo>
                  <a:pt x="711498" y="692094"/>
                </a:lnTo>
                <a:lnTo>
                  <a:pt x="0" y="692094"/>
                </a:lnTo>
                <a:lnTo>
                  <a:pt x="0" y="0"/>
                </a:lnTo>
                <a:close/>
              </a:path>
            </a:pathLst>
          </a:custGeom>
          <a:blipFill>
            <a:blip r:embed="rId5">
              <a:extLst>
                <a:ext uri="{96DAC541-7B7A-43D3-8B79-37D633B846F1}">
                  <asvg:svgBlip xmlns="" xmlns:asvg="http://schemas.microsoft.com/office/drawing/2016/SVG/main" r:embed="rId24"/>
                </a:ext>
              </a:extLst>
            </a:blip>
            <a:stretch>
              <a:fillRect/>
            </a:stretch>
          </a:blipFill>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AutoShape 3"/>
          <p:cNvSpPr/>
          <p:nvPr/>
        </p:nvSpPr>
        <p:spPr>
          <a:xfrm>
            <a:off x="1732293" y="2957446"/>
            <a:ext cx="7577353" cy="0"/>
          </a:xfrm>
          <a:prstGeom prst="line">
            <a:avLst/>
          </a:prstGeom>
          <a:ln w="38100" cap="flat">
            <a:solidFill>
              <a:srgbClr val="AEBE63"/>
            </a:solidFill>
            <a:prstDash val="sysDash"/>
            <a:headEnd type="none" w="sm" len="sm"/>
            <a:tailEnd type="none" w="sm" len="sm"/>
          </a:ln>
        </p:spPr>
      </p:sp>
      <p:grpSp>
        <p:nvGrpSpPr>
          <p:cNvPr id="4" name="Group 4"/>
          <p:cNvGrpSpPr/>
          <p:nvPr/>
        </p:nvGrpSpPr>
        <p:grpSpPr>
          <a:xfrm>
            <a:off x="12478632" y="-313773"/>
            <a:ext cx="8361900" cy="11251028"/>
            <a:chOff x="0" y="0"/>
            <a:chExt cx="2202311" cy="2963234"/>
          </a:xfrm>
        </p:grpSpPr>
        <p:sp>
          <p:nvSpPr>
            <p:cNvPr id="5" name="Freeform 5"/>
            <p:cNvSpPr/>
            <p:nvPr/>
          </p:nvSpPr>
          <p:spPr>
            <a:xfrm>
              <a:off x="0" y="0"/>
              <a:ext cx="2202311" cy="2963234"/>
            </a:xfrm>
            <a:custGeom>
              <a:avLst/>
              <a:gdLst/>
              <a:ahLst/>
              <a:cxnLst/>
              <a:rect l="l" t="t" r="r" b="b"/>
              <a:pathLst>
                <a:path w="2202311" h="2963234">
                  <a:moveTo>
                    <a:pt x="0" y="0"/>
                  </a:moveTo>
                  <a:lnTo>
                    <a:pt x="2202311" y="0"/>
                  </a:lnTo>
                  <a:lnTo>
                    <a:pt x="2202311" y="2963234"/>
                  </a:lnTo>
                  <a:lnTo>
                    <a:pt x="0" y="2963234"/>
                  </a:lnTo>
                  <a:close/>
                </a:path>
              </a:pathLst>
            </a:custGeom>
            <a:solidFill>
              <a:srgbClr val="5C7D52"/>
            </a:solidFill>
          </p:spPr>
        </p:sp>
        <p:sp>
          <p:nvSpPr>
            <p:cNvPr id="6" name="TextBox 6"/>
            <p:cNvSpPr txBox="1"/>
            <p:nvPr/>
          </p:nvSpPr>
          <p:spPr>
            <a:xfrm>
              <a:off x="0" y="-38100"/>
              <a:ext cx="2202311" cy="3001334"/>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7720570" y="-313773"/>
            <a:ext cx="8361900" cy="11251028"/>
            <a:chOff x="0" y="0"/>
            <a:chExt cx="2202311" cy="2963234"/>
          </a:xfrm>
        </p:grpSpPr>
        <p:sp>
          <p:nvSpPr>
            <p:cNvPr id="8" name="Freeform 8"/>
            <p:cNvSpPr/>
            <p:nvPr/>
          </p:nvSpPr>
          <p:spPr>
            <a:xfrm>
              <a:off x="0" y="0"/>
              <a:ext cx="2202311" cy="2963234"/>
            </a:xfrm>
            <a:custGeom>
              <a:avLst/>
              <a:gdLst/>
              <a:ahLst/>
              <a:cxnLst/>
              <a:rect l="l" t="t" r="r" b="b"/>
              <a:pathLst>
                <a:path w="2202311" h="2963234">
                  <a:moveTo>
                    <a:pt x="0" y="0"/>
                  </a:moveTo>
                  <a:lnTo>
                    <a:pt x="2202311" y="0"/>
                  </a:lnTo>
                  <a:lnTo>
                    <a:pt x="2202311" y="2963234"/>
                  </a:lnTo>
                  <a:lnTo>
                    <a:pt x="0" y="2963234"/>
                  </a:lnTo>
                  <a:close/>
                </a:path>
              </a:pathLst>
            </a:custGeom>
            <a:solidFill>
              <a:srgbClr val="5C7D52"/>
            </a:solidFill>
          </p:spPr>
        </p:sp>
        <p:sp>
          <p:nvSpPr>
            <p:cNvPr id="9" name="TextBox 9"/>
            <p:cNvSpPr txBox="1"/>
            <p:nvPr/>
          </p:nvSpPr>
          <p:spPr>
            <a:xfrm>
              <a:off x="0" y="-38100"/>
              <a:ext cx="2202311" cy="3001334"/>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1464122" y="3347971"/>
            <a:ext cx="8711634" cy="5850763"/>
          </a:xfrm>
          <a:prstGeom prst="rect">
            <a:avLst/>
          </a:prstGeom>
        </p:spPr>
        <p:txBody>
          <a:bodyPr lIns="0" tIns="0" rIns="0" bIns="0" rtlCol="0" anchor="t">
            <a:spAutoFit/>
          </a:bodyPr>
          <a:lstStyle/>
          <a:p>
            <a:pPr algn="ctr">
              <a:lnSpc>
                <a:spcPts val="3535"/>
              </a:lnSpc>
            </a:pPr>
            <a:r>
              <a:rPr lang="en-US" sz="3399">
                <a:solidFill>
                  <a:srgbClr val="3B5F3E"/>
                </a:solidFill>
                <a:latin typeface="Dreaming Outloud Sans"/>
                <a:ea typeface="Dreaming Outloud Sans"/>
                <a:cs typeface="Dreaming Outloud Sans"/>
                <a:sym typeface="Dreaming Outloud Sans"/>
              </a:rPr>
              <a:t>Eating better sounds simple, but for most people it is not. Without professional guidance, many end up following generic diets that do not match their body, goals, or lifestyle. On the other side, nutritionists have no dedicated digital tool to manage their clients, track progress, or deliver meal plans efficiently. The gap between people who need nutrition help and professionals who can provide it remains wide — and no organized platform currently closes it. Nutrition Tracker was built to solve exactly that.</a:t>
            </a:r>
          </a:p>
          <a:p>
            <a:pPr algn="ctr">
              <a:lnSpc>
                <a:spcPts val="3535"/>
              </a:lnSpc>
            </a:pPr>
            <a:endParaRPr lang="en-US" sz="3399">
              <a:solidFill>
                <a:srgbClr val="3B5F3E"/>
              </a:solidFill>
              <a:latin typeface="Dreaming Outloud Sans"/>
              <a:ea typeface="Dreaming Outloud Sans"/>
              <a:cs typeface="Dreaming Outloud Sans"/>
              <a:sym typeface="Dreaming Outloud Sans"/>
            </a:endParaRPr>
          </a:p>
        </p:txBody>
      </p:sp>
      <p:sp>
        <p:nvSpPr>
          <p:cNvPr id="19" name="TextBox 19"/>
          <p:cNvSpPr txBox="1"/>
          <p:nvPr/>
        </p:nvSpPr>
        <p:spPr>
          <a:xfrm>
            <a:off x="1660505" y="2107511"/>
            <a:ext cx="8077292" cy="868985"/>
          </a:xfrm>
          <a:prstGeom prst="rect">
            <a:avLst/>
          </a:prstGeom>
        </p:spPr>
        <p:txBody>
          <a:bodyPr lIns="0" tIns="0" rIns="0" bIns="0" rtlCol="0" anchor="t">
            <a:spAutoFit/>
          </a:bodyPr>
          <a:lstStyle/>
          <a:p>
            <a:pPr algn="l">
              <a:lnSpc>
                <a:spcPts val="6462"/>
              </a:lnSpc>
            </a:pPr>
            <a:r>
              <a:rPr lang="en-US" sz="6462">
                <a:solidFill>
                  <a:srgbClr val="3B5F3E"/>
                </a:solidFill>
                <a:latin typeface="Balmy"/>
                <a:ea typeface="Balmy"/>
                <a:cs typeface="Balmy"/>
                <a:sym typeface="Balmy"/>
              </a:rPr>
              <a:t>Problem Statement</a:t>
            </a:r>
          </a:p>
        </p:txBody>
      </p:sp>
      <p:sp>
        <p:nvSpPr>
          <p:cNvPr id="20" name="Freeform 20">
            <a:hlinkClick r:id="rId4" action="ppaction://hlinksldjump"/>
          </p:cNvPr>
          <p:cNvSpPr/>
          <p:nvPr/>
        </p:nvSpPr>
        <p:spPr>
          <a:xfrm>
            <a:off x="1599012" y="85249"/>
            <a:ext cx="711498" cy="692094"/>
          </a:xfrm>
          <a:custGeom>
            <a:avLst/>
            <a:gdLst/>
            <a:ahLst/>
            <a:cxnLst/>
            <a:rect l="l" t="t" r="r" b="b"/>
            <a:pathLst>
              <a:path w="711498" h="692094">
                <a:moveTo>
                  <a:pt x="0" y="0"/>
                </a:moveTo>
                <a:lnTo>
                  <a:pt x="711498" y="0"/>
                </a:lnTo>
                <a:lnTo>
                  <a:pt x="711498" y="692094"/>
                </a:lnTo>
                <a:lnTo>
                  <a:pt x="0" y="692094"/>
                </a:lnTo>
                <a:lnTo>
                  <a:pt x="0" y="0"/>
                </a:lnTo>
                <a:close/>
              </a:path>
            </a:pathLst>
          </a:custGeom>
          <a:blipFill>
            <a:blip r:embed="rId5">
              <a:extLst>
                <a:ext uri="{96DAC541-7B7A-43D3-8B79-37D633B846F1}">
                  <asvg:svgBlip xmlns="" xmlns:asvg="http://schemas.microsoft.com/office/drawing/2016/SVG/main" r:embed="rId20"/>
                </a:ext>
              </a:extLst>
            </a:blip>
            <a:stretch>
              <a:fillRect/>
            </a:stretch>
          </a:blipFill>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4" name="AutoShape 4"/>
          <p:cNvSpPr/>
          <p:nvPr/>
        </p:nvSpPr>
        <p:spPr>
          <a:xfrm>
            <a:off x="5355324" y="2237611"/>
            <a:ext cx="7577353" cy="0"/>
          </a:xfrm>
          <a:prstGeom prst="line">
            <a:avLst/>
          </a:prstGeom>
          <a:ln w="38100" cap="flat">
            <a:solidFill>
              <a:srgbClr val="AEBE63"/>
            </a:solidFill>
            <a:prstDash val="sysDash"/>
            <a:headEnd type="none" w="sm" len="sm"/>
            <a:tailEnd type="none" w="sm" len="sm"/>
          </a:ln>
        </p:spPr>
      </p:sp>
      <p:grpSp>
        <p:nvGrpSpPr>
          <p:cNvPr id="5" name="Group 5"/>
          <p:cNvGrpSpPr/>
          <p:nvPr/>
        </p:nvGrpSpPr>
        <p:grpSpPr>
          <a:xfrm>
            <a:off x="-3080898" y="8886516"/>
            <a:ext cx="22791292" cy="11251028"/>
            <a:chOff x="0" y="0"/>
            <a:chExt cx="6002645" cy="2963234"/>
          </a:xfrm>
        </p:grpSpPr>
        <p:sp>
          <p:nvSpPr>
            <p:cNvPr id="6" name="Freeform 6"/>
            <p:cNvSpPr/>
            <p:nvPr/>
          </p:nvSpPr>
          <p:spPr>
            <a:xfrm>
              <a:off x="0" y="0"/>
              <a:ext cx="6002645" cy="2963234"/>
            </a:xfrm>
            <a:custGeom>
              <a:avLst/>
              <a:gdLst/>
              <a:ahLst/>
              <a:cxnLst/>
              <a:rect l="l" t="t" r="r" b="b"/>
              <a:pathLst>
                <a:path w="6002645" h="2963234">
                  <a:moveTo>
                    <a:pt x="0" y="0"/>
                  </a:moveTo>
                  <a:lnTo>
                    <a:pt x="6002645" y="0"/>
                  </a:lnTo>
                  <a:lnTo>
                    <a:pt x="6002645" y="2963234"/>
                  </a:lnTo>
                  <a:lnTo>
                    <a:pt x="0" y="2963234"/>
                  </a:lnTo>
                  <a:close/>
                </a:path>
              </a:pathLst>
            </a:custGeom>
            <a:solidFill>
              <a:srgbClr val="5C7D52"/>
            </a:solidFill>
          </p:spPr>
        </p:sp>
        <p:sp>
          <p:nvSpPr>
            <p:cNvPr id="7" name="TextBox 7"/>
            <p:cNvSpPr txBox="1"/>
            <p:nvPr/>
          </p:nvSpPr>
          <p:spPr>
            <a:xfrm>
              <a:off x="0" y="-38100"/>
              <a:ext cx="6002645" cy="3001334"/>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702205" y="-3530212"/>
            <a:ext cx="22791292" cy="4160024"/>
            <a:chOff x="0" y="0"/>
            <a:chExt cx="6002645" cy="1095644"/>
          </a:xfrm>
        </p:grpSpPr>
        <p:sp>
          <p:nvSpPr>
            <p:cNvPr id="9" name="Freeform 9"/>
            <p:cNvSpPr/>
            <p:nvPr/>
          </p:nvSpPr>
          <p:spPr>
            <a:xfrm>
              <a:off x="0" y="0"/>
              <a:ext cx="6002645" cy="1095644"/>
            </a:xfrm>
            <a:custGeom>
              <a:avLst/>
              <a:gdLst/>
              <a:ahLst/>
              <a:cxnLst/>
              <a:rect l="l" t="t" r="r" b="b"/>
              <a:pathLst>
                <a:path w="6002645" h="1095644">
                  <a:moveTo>
                    <a:pt x="0" y="0"/>
                  </a:moveTo>
                  <a:lnTo>
                    <a:pt x="6002645" y="0"/>
                  </a:lnTo>
                  <a:lnTo>
                    <a:pt x="6002645" y="1095644"/>
                  </a:lnTo>
                  <a:lnTo>
                    <a:pt x="0" y="1095644"/>
                  </a:lnTo>
                  <a:close/>
                </a:path>
              </a:pathLst>
            </a:custGeom>
            <a:solidFill>
              <a:srgbClr val="5C7D52"/>
            </a:solidFill>
          </p:spPr>
        </p:sp>
        <p:sp>
          <p:nvSpPr>
            <p:cNvPr id="10" name="TextBox 10"/>
            <p:cNvSpPr txBox="1"/>
            <p:nvPr/>
          </p:nvSpPr>
          <p:spPr>
            <a:xfrm>
              <a:off x="0" y="-38100"/>
              <a:ext cx="6002645" cy="1133744"/>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2739098" y="3155059"/>
            <a:ext cx="14520202" cy="4213208"/>
          </a:xfrm>
          <a:prstGeom prst="rect">
            <a:avLst/>
          </a:prstGeom>
        </p:spPr>
        <p:txBody>
          <a:bodyPr lIns="0" tIns="0" rIns="0" bIns="0" rtlCol="0" anchor="t">
            <a:spAutoFit/>
          </a:bodyPr>
          <a:lstStyle/>
          <a:p>
            <a:pPr algn="l">
              <a:lnSpc>
                <a:spcPts val="5678"/>
              </a:lnSpc>
            </a:pPr>
            <a:r>
              <a:rPr lang="en-US" sz="3189">
                <a:solidFill>
                  <a:srgbClr val="3B5F3E"/>
                </a:solidFill>
                <a:latin typeface="Dreaming Outloud Sans"/>
                <a:ea typeface="Dreaming Outloud Sans"/>
                <a:cs typeface="Dreaming Outloud Sans"/>
                <a:sym typeface="Dreaming Outloud Sans"/>
              </a:rPr>
              <a:t>1- Connect users directly with qualified, real nutritionists — not generic advice.</a:t>
            </a:r>
          </a:p>
          <a:p>
            <a:pPr algn="l">
              <a:lnSpc>
                <a:spcPts val="5678"/>
              </a:lnSpc>
            </a:pPr>
            <a:r>
              <a:rPr lang="en-US" sz="3189">
                <a:solidFill>
                  <a:srgbClr val="3B5F3E"/>
                </a:solidFill>
                <a:latin typeface="Dreaming Outloud Sans"/>
                <a:ea typeface="Dreaming Outloud Sans"/>
                <a:cs typeface="Dreaming Outloud Sans"/>
                <a:sym typeface="Dreaming Outloud Sans"/>
              </a:rPr>
              <a:t>2-Make the entire journey seamless, from registration to receiving a meal plan. </a:t>
            </a:r>
          </a:p>
          <a:p>
            <a:pPr algn="l">
              <a:lnSpc>
                <a:spcPts val="5678"/>
              </a:lnSpc>
            </a:pPr>
            <a:r>
              <a:rPr lang="en-US" sz="3189">
                <a:solidFill>
                  <a:srgbClr val="3B5F3E"/>
                </a:solidFill>
                <a:latin typeface="Dreaming Outloud Sans"/>
                <a:ea typeface="Dreaming Outloud Sans"/>
                <a:cs typeface="Dreaming Outloud Sans"/>
                <a:sym typeface="Dreaming Outloud Sans"/>
              </a:rPr>
              <a:t>3-Give nutritionists a proper workspace to manage clients and track their progress.</a:t>
            </a:r>
          </a:p>
          <a:p>
            <a:pPr algn="l">
              <a:lnSpc>
                <a:spcPts val="5678"/>
              </a:lnSpc>
            </a:pPr>
            <a:r>
              <a:rPr lang="en-US" sz="3189">
                <a:solidFill>
                  <a:srgbClr val="3B5F3E"/>
                </a:solidFill>
                <a:latin typeface="Dreaming Outloud Sans"/>
                <a:ea typeface="Dreaming Outloud Sans"/>
                <a:cs typeface="Dreaming Outloud Sans"/>
                <a:sym typeface="Dreaming Outloud Sans"/>
              </a:rPr>
              <a:t>4-Ensure every payment is secure, transparent, and confirmed instantly.</a:t>
            </a:r>
          </a:p>
          <a:p>
            <a:pPr algn="l">
              <a:lnSpc>
                <a:spcPts val="5678"/>
              </a:lnSpc>
            </a:pPr>
            <a:r>
              <a:rPr lang="en-US" sz="3189">
                <a:solidFill>
                  <a:srgbClr val="3B5F3E"/>
                </a:solidFill>
                <a:latin typeface="Dreaming Outloud Sans"/>
                <a:ea typeface="Dreaming Outloud Sans"/>
                <a:cs typeface="Dreaming Outloud Sans"/>
                <a:sym typeface="Dreaming Outloud Sans"/>
              </a:rPr>
              <a:t>5-Put admins in full control of the platform without technical complexity.</a:t>
            </a:r>
          </a:p>
          <a:p>
            <a:pPr algn="l">
              <a:lnSpc>
                <a:spcPts val="5678"/>
              </a:lnSpc>
            </a:pPr>
            <a:endParaRPr lang="en-US" sz="3189">
              <a:solidFill>
                <a:srgbClr val="3B5F3E"/>
              </a:solidFill>
              <a:latin typeface="Dreaming Outloud Sans"/>
              <a:ea typeface="Dreaming Outloud Sans"/>
              <a:cs typeface="Dreaming Outloud Sans"/>
              <a:sym typeface="Dreaming Outloud Sans"/>
            </a:endParaRPr>
          </a:p>
        </p:txBody>
      </p:sp>
      <p:sp>
        <p:nvSpPr>
          <p:cNvPr id="17" name="TextBox 17"/>
          <p:cNvSpPr txBox="1"/>
          <p:nvPr/>
        </p:nvSpPr>
        <p:spPr>
          <a:xfrm>
            <a:off x="4294474" y="1107861"/>
            <a:ext cx="9906856" cy="1110700"/>
          </a:xfrm>
          <a:prstGeom prst="rect">
            <a:avLst/>
          </a:prstGeom>
        </p:spPr>
        <p:txBody>
          <a:bodyPr lIns="0" tIns="0" rIns="0" bIns="0" rtlCol="0" anchor="t">
            <a:spAutoFit/>
          </a:bodyPr>
          <a:lstStyle/>
          <a:p>
            <a:pPr algn="ctr">
              <a:lnSpc>
                <a:spcPts val="9046"/>
              </a:lnSpc>
              <a:spcBef>
                <a:spcPct val="0"/>
              </a:spcBef>
            </a:pPr>
            <a:r>
              <a:rPr lang="en-US" sz="6462">
                <a:solidFill>
                  <a:srgbClr val="3B5F3E"/>
                </a:solidFill>
                <a:latin typeface="Balmy"/>
                <a:ea typeface="Balmy"/>
                <a:cs typeface="Balmy"/>
                <a:sym typeface="Balmy"/>
              </a:rPr>
              <a:t>Project Goals</a:t>
            </a:r>
          </a:p>
        </p:txBody>
      </p:sp>
      <p:sp>
        <p:nvSpPr>
          <p:cNvPr id="21" name="Freeform 21">
            <a:hlinkClick r:id="rId4" action="ppaction://hlinksldjump"/>
          </p:cNvPr>
          <p:cNvSpPr/>
          <p:nvPr/>
        </p:nvSpPr>
        <p:spPr>
          <a:xfrm>
            <a:off x="1599012" y="111128"/>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5">
              <a:extLst>
                <a:ext uri="{96DAC541-7B7A-43D3-8B79-37D633B846F1}">
                  <asvg:svgBlip xmlns="" xmlns:asvg="http://schemas.microsoft.com/office/drawing/2016/SVG/main" r:embed="rId22"/>
                </a:ext>
              </a:extLst>
            </a:blip>
            <a:stretch>
              <a:fillRect/>
            </a:stretch>
          </a:blipFill>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AutoShape 3"/>
          <p:cNvSpPr/>
          <p:nvPr/>
        </p:nvSpPr>
        <p:spPr>
          <a:xfrm>
            <a:off x="1406131" y="1934330"/>
            <a:ext cx="7577353" cy="0"/>
          </a:xfrm>
          <a:prstGeom prst="line">
            <a:avLst/>
          </a:prstGeom>
          <a:ln w="38100" cap="flat">
            <a:solidFill>
              <a:srgbClr val="AEBE63"/>
            </a:solidFill>
            <a:prstDash val="sysDash"/>
            <a:headEnd type="none" w="sm" len="sm"/>
            <a:tailEnd type="none" w="sm" len="sm"/>
          </a:ln>
        </p:spPr>
      </p:sp>
      <p:grpSp>
        <p:nvGrpSpPr>
          <p:cNvPr id="4" name="Group 4"/>
          <p:cNvGrpSpPr/>
          <p:nvPr/>
        </p:nvGrpSpPr>
        <p:grpSpPr>
          <a:xfrm>
            <a:off x="-7720570" y="-313773"/>
            <a:ext cx="8361900" cy="11251028"/>
            <a:chOff x="0" y="0"/>
            <a:chExt cx="2202311" cy="2963234"/>
          </a:xfrm>
        </p:grpSpPr>
        <p:sp>
          <p:nvSpPr>
            <p:cNvPr id="5" name="Freeform 5"/>
            <p:cNvSpPr/>
            <p:nvPr/>
          </p:nvSpPr>
          <p:spPr>
            <a:xfrm>
              <a:off x="0" y="0"/>
              <a:ext cx="2202311" cy="2963234"/>
            </a:xfrm>
            <a:custGeom>
              <a:avLst/>
              <a:gdLst/>
              <a:ahLst/>
              <a:cxnLst/>
              <a:rect l="l" t="t" r="r" b="b"/>
              <a:pathLst>
                <a:path w="2202311" h="2963234">
                  <a:moveTo>
                    <a:pt x="0" y="0"/>
                  </a:moveTo>
                  <a:lnTo>
                    <a:pt x="2202311" y="0"/>
                  </a:lnTo>
                  <a:lnTo>
                    <a:pt x="2202311" y="2963234"/>
                  </a:lnTo>
                  <a:lnTo>
                    <a:pt x="0" y="2963234"/>
                  </a:lnTo>
                  <a:close/>
                </a:path>
              </a:pathLst>
            </a:custGeom>
            <a:solidFill>
              <a:srgbClr val="5C7D52"/>
            </a:solidFill>
          </p:spPr>
        </p:sp>
        <p:sp>
          <p:nvSpPr>
            <p:cNvPr id="6" name="TextBox 6"/>
            <p:cNvSpPr txBox="1"/>
            <p:nvPr/>
          </p:nvSpPr>
          <p:spPr>
            <a:xfrm>
              <a:off x="0" y="-38100"/>
              <a:ext cx="2202311" cy="3001334"/>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1406131" y="1084395"/>
            <a:ext cx="8586591" cy="868985"/>
          </a:xfrm>
          <a:prstGeom prst="rect">
            <a:avLst/>
          </a:prstGeom>
        </p:spPr>
        <p:txBody>
          <a:bodyPr lIns="0" tIns="0" rIns="0" bIns="0" rtlCol="0" anchor="t">
            <a:spAutoFit/>
          </a:bodyPr>
          <a:lstStyle/>
          <a:p>
            <a:pPr algn="l">
              <a:lnSpc>
                <a:spcPts val="6462"/>
              </a:lnSpc>
            </a:pPr>
            <a:r>
              <a:rPr lang="en-US" sz="6462">
                <a:solidFill>
                  <a:srgbClr val="3B5F3E"/>
                </a:solidFill>
                <a:latin typeface="Balmy"/>
                <a:ea typeface="Balmy"/>
                <a:cs typeface="Balmy"/>
                <a:sym typeface="Balmy"/>
              </a:rPr>
              <a:t>Project Objectives</a:t>
            </a:r>
          </a:p>
        </p:txBody>
      </p:sp>
      <p:sp>
        <p:nvSpPr>
          <p:cNvPr id="16" name="TextBox 16"/>
          <p:cNvSpPr txBox="1"/>
          <p:nvPr/>
        </p:nvSpPr>
        <p:spPr>
          <a:xfrm>
            <a:off x="1406131" y="2096292"/>
            <a:ext cx="18087670" cy="7830611"/>
          </a:xfrm>
          <a:prstGeom prst="rect">
            <a:avLst/>
          </a:prstGeom>
        </p:spPr>
        <p:txBody>
          <a:bodyPr lIns="0" tIns="0" rIns="0" bIns="0" rtlCol="0" anchor="t">
            <a:spAutoFit/>
          </a:bodyPr>
          <a:lstStyle/>
          <a:p>
            <a:pPr algn="l">
              <a:lnSpc>
                <a:spcPts val="5683"/>
              </a:lnSpc>
            </a:pPr>
            <a:r>
              <a:rPr lang="en-US" sz="3193">
                <a:solidFill>
                  <a:srgbClr val="3B5F3E"/>
                </a:solidFill>
                <a:latin typeface="Dreaming Outloud Sans"/>
                <a:ea typeface="Dreaming Outloud Sans"/>
                <a:cs typeface="Dreaming Outloud Sans"/>
                <a:sym typeface="Dreaming Outloud Sans"/>
              </a:rPr>
              <a:t>1-A new user can register, complete their full health profile, and</a:t>
            </a:r>
          </a:p>
          <a:p>
            <a:pPr algn="l">
              <a:lnSpc>
                <a:spcPts val="5683"/>
              </a:lnSpc>
            </a:pPr>
            <a:r>
              <a:rPr lang="en-US" sz="3193">
                <a:solidFill>
                  <a:srgbClr val="3B5F3E"/>
                </a:solidFill>
                <a:latin typeface="Dreaming Outloud Sans"/>
                <a:ea typeface="Dreaming Outloud Sans"/>
                <a:cs typeface="Dreaming Outloud Sans"/>
                <a:sym typeface="Dreaming Outloud Sans"/>
              </a:rPr>
              <a:t> finish payment in under 5 minutes.</a:t>
            </a:r>
          </a:p>
          <a:p>
            <a:pPr algn="l">
              <a:lnSpc>
                <a:spcPts val="5683"/>
              </a:lnSpc>
            </a:pPr>
            <a:r>
              <a:rPr lang="en-US" sz="3193">
                <a:solidFill>
                  <a:srgbClr val="3B5F3E"/>
                </a:solidFill>
                <a:latin typeface="Dreaming Outloud Sans"/>
                <a:ea typeface="Dreaming Outloud Sans"/>
                <a:cs typeface="Dreaming Outloud Sans"/>
                <a:sym typeface="Dreaming Outloud Sans"/>
              </a:rPr>
              <a:t>2-Every nutritionist is immediately notified</a:t>
            </a:r>
          </a:p>
          <a:p>
            <a:pPr algn="l">
              <a:lnSpc>
                <a:spcPts val="5683"/>
              </a:lnSpc>
            </a:pPr>
            <a:r>
              <a:rPr lang="en-US" sz="3193">
                <a:solidFill>
                  <a:srgbClr val="3B5F3E"/>
                </a:solidFill>
                <a:latin typeface="Dreaming Outloud Sans"/>
                <a:ea typeface="Dreaming Outloud Sans"/>
                <a:cs typeface="Dreaming Outloud Sans"/>
                <a:sym typeface="Dreaming Outloud Sans"/>
              </a:rPr>
              <a:t> when a new client is assigned to them.</a:t>
            </a:r>
          </a:p>
          <a:p>
            <a:pPr algn="l">
              <a:lnSpc>
                <a:spcPts val="5683"/>
              </a:lnSpc>
            </a:pPr>
            <a:r>
              <a:rPr lang="en-US" sz="3193">
                <a:solidFill>
                  <a:srgbClr val="3B5F3E"/>
                </a:solidFill>
                <a:latin typeface="Dreaming Outloud Sans"/>
                <a:ea typeface="Dreaming Outloud Sans"/>
                <a:cs typeface="Dreaming Outloud Sans"/>
                <a:sym typeface="Dreaming Outloud Sans"/>
              </a:rPr>
              <a:t>3-Users can view their personalized meal plan and</a:t>
            </a:r>
          </a:p>
          <a:p>
            <a:pPr algn="l">
              <a:lnSpc>
                <a:spcPts val="5683"/>
              </a:lnSpc>
            </a:pPr>
            <a:r>
              <a:rPr lang="en-US" sz="3193">
                <a:solidFill>
                  <a:srgbClr val="3B5F3E"/>
                </a:solidFill>
                <a:latin typeface="Dreaming Outloud Sans"/>
                <a:ea typeface="Dreaming Outloud Sans"/>
                <a:cs typeface="Dreaming Outloud Sans"/>
                <a:sym typeface="Dreaming Outloud Sans"/>
              </a:rPr>
              <a:t> send progress updates at any time.</a:t>
            </a:r>
          </a:p>
          <a:p>
            <a:pPr algn="l">
              <a:lnSpc>
                <a:spcPts val="5683"/>
              </a:lnSpc>
            </a:pPr>
            <a:r>
              <a:rPr lang="en-US" sz="3193">
                <a:solidFill>
                  <a:srgbClr val="3B5F3E"/>
                </a:solidFill>
                <a:latin typeface="Dreaming Outloud Sans"/>
                <a:ea typeface="Dreaming Outloud Sans"/>
                <a:cs typeface="Dreaming Outloud Sans"/>
                <a:sym typeface="Dreaming Outloud Sans"/>
              </a:rPr>
              <a:t>4-The system automatically confirms payments and</a:t>
            </a:r>
          </a:p>
          <a:p>
            <a:pPr algn="l">
              <a:lnSpc>
                <a:spcPts val="5683"/>
              </a:lnSpc>
            </a:pPr>
            <a:r>
              <a:rPr lang="en-US" sz="3193">
                <a:solidFill>
                  <a:srgbClr val="3B5F3E"/>
                </a:solidFill>
                <a:latin typeface="Dreaming Outloud Sans"/>
                <a:ea typeface="Dreaming Outloud Sans"/>
                <a:cs typeface="Dreaming Outloud Sans"/>
                <a:sym typeface="Dreaming Outloud Sans"/>
              </a:rPr>
              <a:t> notifies both the user and their nutritionist.</a:t>
            </a:r>
          </a:p>
          <a:p>
            <a:pPr algn="l">
              <a:lnSpc>
                <a:spcPts val="5683"/>
              </a:lnSpc>
            </a:pPr>
            <a:r>
              <a:rPr lang="en-US" sz="3193">
                <a:solidFill>
                  <a:srgbClr val="3B5F3E"/>
                </a:solidFill>
                <a:latin typeface="Dreaming Outloud Sans"/>
                <a:ea typeface="Dreaming Outloud Sans"/>
                <a:cs typeface="Dreaming Outloud Sans"/>
                <a:sym typeface="Dreaming Outloud Sans"/>
              </a:rPr>
              <a:t>5-Admins can manage every user, nutritionist, and</a:t>
            </a:r>
          </a:p>
          <a:p>
            <a:pPr algn="l">
              <a:lnSpc>
                <a:spcPts val="5683"/>
              </a:lnSpc>
            </a:pPr>
            <a:r>
              <a:rPr lang="en-US" sz="3193">
                <a:solidFill>
                  <a:srgbClr val="3B5F3E"/>
                </a:solidFill>
                <a:latin typeface="Dreaming Outloud Sans"/>
                <a:ea typeface="Dreaming Outloud Sans"/>
                <a:cs typeface="Dreaming Outloud Sans"/>
                <a:sym typeface="Dreaming Outloud Sans"/>
              </a:rPr>
              <a:t> subscription from a single dashboard.</a:t>
            </a:r>
          </a:p>
          <a:p>
            <a:pPr algn="l">
              <a:lnSpc>
                <a:spcPts val="5683"/>
              </a:lnSpc>
            </a:pPr>
            <a:endParaRPr lang="en-US" sz="3193">
              <a:solidFill>
                <a:srgbClr val="3B5F3E"/>
              </a:solidFill>
              <a:latin typeface="Dreaming Outloud Sans"/>
              <a:ea typeface="Dreaming Outloud Sans"/>
              <a:cs typeface="Dreaming Outloud Sans"/>
              <a:sym typeface="Dreaming Outloud Sans"/>
            </a:endParaRPr>
          </a:p>
        </p:txBody>
      </p:sp>
      <p:sp>
        <p:nvSpPr>
          <p:cNvPr id="17" name="Freeform 17">
            <a:hlinkClick r:id="rId4" action="ppaction://hlinksldjump"/>
          </p:cNvPr>
          <p:cNvSpPr/>
          <p:nvPr/>
        </p:nvSpPr>
        <p:spPr>
          <a:xfrm>
            <a:off x="1599012" y="137006"/>
            <a:ext cx="711498" cy="692094"/>
          </a:xfrm>
          <a:custGeom>
            <a:avLst/>
            <a:gdLst/>
            <a:ahLst/>
            <a:cxnLst/>
            <a:rect l="l" t="t" r="r" b="b"/>
            <a:pathLst>
              <a:path w="711498" h="692094">
                <a:moveTo>
                  <a:pt x="0" y="0"/>
                </a:moveTo>
                <a:lnTo>
                  <a:pt x="711498" y="0"/>
                </a:lnTo>
                <a:lnTo>
                  <a:pt x="711498" y="692094"/>
                </a:lnTo>
                <a:lnTo>
                  <a:pt x="0" y="692094"/>
                </a:lnTo>
                <a:lnTo>
                  <a:pt x="0" y="0"/>
                </a:lnTo>
                <a:close/>
              </a:path>
            </a:pathLst>
          </a:custGeom>
          <a:blipFill>
            <a:blip r:embed="rId5">
              <a:extLst>
                <a:ext uri="{96DAC541-7B7A-43D3-8B79-37D633B846F1}">
                  <asvg:svgBlip xmlns="" xmlns:asvg="http://schemas.microsoft.com/office/drawing/2016/SVG/main" r:embed="rId20"/>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AutoShape 3"/>
          <p:cNvSpPr/>
          <p:nvPr/>
        </p:nvSpPr>
        <p:spPr>
          <a:xfrm>
            <a:off x="5355324" y="1261554"/>
            <a:ext cx="7577353" cy="0"/>
          </a:xfrm>
          <a:prstGeom prst="line">
            <a:avLst/>
          </a:prstGeom>
          <a:ln w="38100" cap="flat">
            <a:solidFill>
              <a:srgbClr val="AEBE63"/>
            </a:solidFill>
            <a:prstDash val="sysDash"/>
            <a:headEnd type="none" w="sm" len="sm"/>
            <a:tailEnd type="none" w="sm" len="sm"/>
          </a:ln>
        </p:spPr>
      </p:sp>
      <p:grpSp>
        <p:nvGrpSpPr>
          <p:cNvPr id="4" name="Group 4"/>
          <p:cNvGrpSpPr/>
          <p:nvPr/>
        </p:nvGrpSpPr>
        <p:grpSpPr>
          <a:xfrm>
            <a:off x="-696375" y="10056860"/>
            <a:ext cx="21190993" cy="4741148"/>
            <a:chOff x="0" y="0"/>
            <a:chExt cx="5581167" cy="1248697"/>
          </a:xfrm>
        </p:grpSpPr>
        <p:sp>
          <p:nvSpPr>
            <p:cNvPr id="5" name="Freeform 5"/>
            <p:cNvSpPr/>
            <p:nvPr/>
          </p:nvSpPr>
          <p:spPr>
            <a:xfrm>
              <a:off x="0" y="0"/>
              <a:ext cx="5581167" cy="1248697"/>
            </a:xfrm>
            <a:custGeom>
              <a:avLst/>
              <a:gdLst/>
              <a:ahLst/>
              <a:cxnLst/>
              <a:rect l="l" t="t" r="r" b="b"/>
              <a:pathLst>
                <a:path w="5581167" h="1248697">
                  <a:moveTo>
                    <a:pt x="0" y="0"/>
                  </a:moveTo>
                  <a:lnTo>
                    <a:pt x="5581167" y="0"/>
                  </a:lnTo>
                  <a:lnTo>
                    <a:pt x="5581167" y="1248697"/>
                  </a:lnTo>
                  <a:lnTo>
                    <a:pt x="0" y="1248697"/>
                  </a:lnTo>
                  <a:close/>
                </a:path>
              </a:pathLst>
            </a:custGeom>
            <a:solidFill>
              <a:srgbClr val="5C7D52"/>
            </a:solidFill>
          </p:spPr>
        </p:sp>
        <p:sp>
          <p:nvSpPr>
            <p:cNvPr id="6" name="TextBox 6"/>
            <p:cNvSpPr txBox="1"/>
            <p:nvPr/>
          </p:nvSpPr>
          <p:spPr>
            <a:xfrm>
              <a:off x="0" y="-38100"/>
              <a:ext cx="5581167" cy="1286797"/>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16" name="Table 16"/>
          <p:cNvGraphicFramePr>
            <a:graphicFrameLocks noGrp="1"/>
          </p:cNvGraphicFramePr>
          <p:nvPr/>
        </p:nvGraphicFramePr>
        <p:xfrm>
          <a:off x="1872410" y="1486865"/>
          <a:ext cx="14439649" cy="7639049"/>
        </p:xfrm>
        <a:graphic>
          <a:graphicData uri="http://schemas.openxmlformats.org/drawingml/2006/table">
            <a:tbl>
              <a:tblPr/>
              <a:tblGrid>
                <a:gridCol w="1268292">
                  <a:extLst>
                    <a:ext uri="{9D8B030D-6E8A-4147-A177-3AD203B41FA5}">
                      <a16:colId xmlns:a16="http://schemas.microsoft.com/office/drawing/2014/main" val="20000"/>
                    </a:ext>
                  </a:extLst>
                </a:gridCol>
                <a:gridCol w="3722092">
                  <a:extLst>
                    <a:ext uri="{9D8B030D-6E8A-4147-A177-3AD203B41FA5}">
                      <a16:colId xmlns:a16="http://schemas.microsoft.com/office/drawing/2014/main" val="20001"/>
                    </a:ext>
                  </a:extLst>
                </a:gridCol>
                <a:gridCol w="9449265">
                  <a:extLst>
                    <a:ext uri="{9D8B030D-6E8A-4147-A177-3AD203B41FA5}">
                      <a16:colId xmlns:a16="http://schemas.microsoft.com/office/drawing/2014/main" val="20002"/>
                    </a:ext>
                  </a:extLst>
                </a:gridCol>
              </a:tblGrid>
              <a:tr h="689238">
                <a:tc>
                  <a:txBody>
                    <a:bodyPr/>
                    <a:lstStyle/>
                    <a:p>
                      <a:pPr algn="ctr">
                        <a:lnSpc>
                          <a:spcPts val="3079"/>
                        </a:lnSpc>
                        <a:defRPr/>
                      </a:pPr>
                      <a:r>
                        <a:rPr lang="en-US" sz="2199" b="1">
                          <a:solidFill>
                            <a:srgbClr val="D1D69D"/>
                          </a:solidFill>
                          <a:latin typeface="Canva Sans Bold"/>
                          <a:ea typeface="Canva Sans Bold"/>
                          <a:cs typeface="Canva Sans Bold"/>
                          <a:sym typeface="Canva Sans Bold"/>
                        </a:rPr>
                        <a:t>ID</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solidFill>
                      <a:srgbClr val="5C7D52"/>
                    </a:solidFill>
                  </a:tcPr>
                </a:tc>
                <a:tc>
                  <a:txBody>
                    <a:bodyPr/>
                    <a:lstStyle/>
                    <a:p>
                      <a:pPr algn="ctr">
                        <a:lnSpc>
                          <a:spcPts val="3079"/>
                        </a:lnSpc>
                        <a:defRPr/>
                      </a:pPr>
                      <a:r>
                        <a:rPr lang="en-US" sz="2199" b="1">
                          <a:solidFill>
                            <a:srgbClr val="D1D69D"/>
                          </a:solidFill>
                          <a:latin typeface="Canva Sans Bold"/>
                          <a:ea typeface="Canva Sans Bold"/>
                          <a:cs typeface="Canva Sans Bold"/>
                          <a:sym typeface="Canva Sans Bold"/>
                        </a:rPr>
                        <a:t>Name</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solidFill>
                      <a:srgbClr val="5C7D52"/>
                    </a:solidFill>
                  </a:tcPr>
                </a:tc>
                <a:tc>
                  <a:txBody>
                    <a:bodyPr/>
                    <a:lstStyle/>
                    <a:p>
                      <a:pPr algn="ctr">
                        <a:lnSpc>
                          <a:spcPts val="3079"/>
                        </a:lnSpc>
                        <a:defRPr/>
                      </a:pPr>
                      <a:r>
                        <a:rPr lang="en-US" sz="2199" b="1">
                          <a:solidFill>
                            <a:srgbClr val="D1D69D"/>
                          </a:solidFill>
                          <a:latin typeface="Canva Sans Bold"/>
                          <a:ea typeface="Canva Sans Bold"/>
                          <a:cs typeface="Canva Sans Bold"/>
                          <a:sym typeface="Canva Sans Bold"/>
                        </a:rPr>
                        <a:t>Describtion</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solidFill>
                      <a:srgbClr val="5C7D52"/>
                    </a:solidFill>
                  </a:tcPr>
                </a:tc>
                <a:extLst>
                  <a:ext uri="{0D108BD9-81ED-4DB2-BD59-A6C34878D82A}">
                    <a16:rowId xmlns:a16="http://schemas.microsoft.com/office/drawing/2014/main" val="10000"/>
                  </a:ext>
                </a:extLst>
              </a:tr>
              <a:tr h="631801">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FR1</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User Registration &amp; Login</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Users can create an account, log in, and reset their password</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extLst>
                  <a:ext uri="{0D108BD9-81ED-4DB2-BD59-A6C34878D82A}">
                    <a16:rowId xmlns:a16="http://schemas.microsoft.com/office/drawing/2014/main" val="10001"/>
                  </a:ext>
                </a:extLst>
              </a:tr>
              <a:tr h="631801">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FR2</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Health Profile Setup</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Users fill in age, weight, height, goals, and training schedule</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extLst>
                  <a:ext uri="{0D108BD9-81ED-4DB2-BD59-A6C34878D82A}">
                    <a16:rowId xmlns:a16="http://schemas.microsoft.com/office/drawing/2014/main" val="10002"/>
                  </a:ext>
                </a:extLst>
              </a:tr>
              <a:tr h="631801">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FR3</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Choose Subscription Plan</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Users view and select a plan, optionally apply a discount code</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extLst>
                  <a:ext uri="{0D108BD9-81ED-4DB2-BD59-A6C34878D82A}">
                    <a16:rowId xmlns:a16="http://schemas.microsoft.com/office/drawing/2014/main" val="10003"/>
                  </a:ext>
                </a:extLst>
              </a:tr>
              <a:tr h="631801">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FR4</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Make Payment</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Payment via gateway, system confirms and notifies user &amp; nutritionist</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extLst>
                  <a:ext uri="{0D108BD9-81ED-4DB2-BD59-A6C34878D82A}">
                    <a16:rowId xmlns:a16="http://schemas.microsoft.com/office/drawing/2014/main" val="10004"/>
                  </a:ext>
                </a:extLst>
              </a:tr>
              <a:tr h="631801">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FR5</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View Meal Plan</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Users view their personalized meal plan from their dashboard</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extLst>
                  <a:ext uri="{0D108BD9-81ED-4DB2-BD59-A6C34878D82A}">
                    <a16:rowId xmlns:a16="http://schemas.microsoft.com/office/drawing/2014/main" val="10005"/>
                  </a:ext>
                </a:extLst>
              </a:tr>
              <a:tr h="631801">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FR6</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Send Progress Updates</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Users submit progress reports directly to their nutritionist</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extLst>
                  <a:ext uri="{0D108BD9-81ED-4DB2-BD59-A6C34878D82A}">
                    <a16:rowId xmlns:a16="http://schemas.microsoft.com/office/drawing/2014/main" val="10006"/>
                  </a:ext>
                </a:extLst>
              </a:tr>
              <a:tr h="631801">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FR7</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Nutritionist View Clients</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Notified when assigned a client, can view full profile and goals</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extLst>
                  <a:ext uri="{0D108BD9-81ED-4DB2-BD59-A6C34878D82A}">
                    <a16:rowId xmlns:a16="http://schemas.microsoft.com/office/drawing/2014/main" val="10007"/>
                  </a:ext>
                </a:extLst>
              </a:tr>
              <a:tr h="631801">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FR8</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Create &amp; Update Meal Plans</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Nutritionists create plans and update them based on progress</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extLst>
                  <a:ext uri="{0D108BD9-81ED-4DB2-BD59-A6C34878D82A}">
                    <a16:rowId xmlns:a16="http://schemas.microsoft.com/office/drawing/2014/main" val="10008"/>
                  </a:ext>
                </a:extLst>
              </a:tr>
              <a:tr h="631801">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FR9</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Admin Manage Users</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Admin can add, edit, or remove user and nutritionist accounts</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extLst>
                  <a:ext uri="{0D108BD9-81ED-4DB2-BD59-A6C34878D82A}">
                    <a16:rowId xmlns:a16="http://schemas.microsoft.com/office/drawing/2014/main" val="10009"/>
                  </a:ext>
                </a:extLst>
              </a:tr>
              <a:tr h="631801">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FR10</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Admin Manage Subscriptions</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Admin creates and manages subscription plans and discount codes</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extLst>
                  <a:ext uri="{0D108BD9-81ED-4DB2-BD59-A6C34878D82A}">
                    <a16:rowId xmlns:a16="http://schemas.microsoft.com/office/drawing/2014/main" val="10010"/>
                  </a:ext>
                </a:extLst>
              </a:tr>
              <a:tr h="631801">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FR11</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Auto Notifications</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tc>
                  <a:txBody>
                    <a:bodyPr/>
                    <a:lstStyle/>
                    <a:p>
                      <a:pPr algn="ctr">
                        <a:lnSpc>
                          <a:spcPts val="2659"/>
                        </a:lnSpc>
                        <a:defRPr/>
                      </a:pPr>
                      <a:r>
                        <a:rPr lang="en-US" sz="1899" b="1">
                          <a:solidFill>
                            <a:srgbClr val="000000"/>
                          </a:solidFill>
                          <a:latin typeface="Canva Sans Bold"/>
                          <a:ea typeface="Canva Sans Bold"/>
                          <a:cs typeface="Canva Sans Bold"/>
                          <a:sym typeface="Canva Sans Bold"/>
                        </a:rPr>
                        <a:t>System sends notifications after payment, assignment, and progress updates</a:t>
                      </a:r>
                      <a:endParaRPr lang="en-US" sz="1100"/>
                    </a:p>
                  </a:txBody>
                  <a:tcPr marL="104775" marR="104775" marT="104775" marB="104775" anchor="ctr">
                    <a:lnL w="38100" cap="flat" cmpd="sng" algn="ctr">
                      <a:solidFill>
                        <a:srgbClr val="3B5F3E"/>
                      </a:solidFill>
                      <a:prstDash val="solid"/>
                      <a:round/>
                      <a:headEnd type="none" w="med" len="med"/>
                      <a:tailEnd type="none" w="med" len="med"/>
                    </a:lnL>
                    <a:lnR w="38100" cap="flat" cmpd="sng" algn="ctr">
                      <a:solidFill>
                        <a:srgbClr val="3B5F3E"/>
                      </a:solidFill>
                      <a:prstDash val="solid"/>
                      <a:round/>
                      <a:headEnd type="none" w="med" len="med"/>
                      <a:tailEnd type="none" w="med" len="med"/>
                    </a:lnR>
                    <a:lnT w="38100" cap="flat" cmpd="sng" algn="ctr">
                      <a:solidFill>
                        <a:srgbClr val="3B5F3E"/>
                      </a:solidFill>
                      <a:prstDash val="solid"/>
                      <a:round/>
                      <a:headEnd type="none" w="med" len="med"/>
                      <a:tailEnd type="none" w="med" len="med"/>
                    </a:lnT>
                    <a:lnB w="38100" cap="flat" cmpd="sng" algn="ctr">
                      <a:solidFill>
                        <a:srgbClr val="3B5F3E"/>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17" name="TextBox 17"/>
          <p:cNvSpPr txBox="1"/>
          <p:nvPr/>
        </p:nvSpPr>
        <p:spPr>
          <a:xfrm>
            <a:off x="3244455" y="38814"/>
            <a:ext cx="11799090" cy="1110700"/>
          </a:xfrm>
          <a:prstGeom prst="rect">
            <a:avLst/>
          </a:prstGeom>
        </p:spPr>
        <p:txBody>
          <a:bodyPr lIns="0" tIns="0" rIns="0" bIns="0" rtlCol="0" anchor="t">
            <a:spAutoFit/>
          </a:bodyPr>
          <a:lstStyle/>
          <a:p>
            <a:pPr algn="ctr">
              <a:lnSpc>
                <a:spcPts val="9046"/>
              </a:lnSpc>
              <a:spcBef>
                <a:spcPct val="0"/>
              </a:spcBef>
            </a:pPr>
            <a:r>
              <a:rPr lang="en-US" sz="6462">
                <a:solidFill>
                  <a:srgbClr val="3B5F3E"/>
                </a:solidFill>
                <a:latin typeface="Balmy"/>
                <a:ea typeface="Balmy"/>
                <a:cs typeface="Balmy"/>
                <a:sym typeface="Balmy"/>
              </a:rPr>
              <a:t>Functional Requiemenets </a:t>
            </a:r>
          </a:p>
        </p:txBody>
      </p:sp>
      <p:sp>
        <p:nvSpPr>
          <p:cNvPr id="18" name="Freeform 18">
            <a:hlinkClick r:id="rId4" action="ppaction://hlinksldjump"/>
          </p:cNvPr>
          <p:cNvSpPr/>
          <p:nvPr/>
        </p:nvSpPr>
        <p:spPr>
          <a:xfrm>
            <a:off x="1599012" y="162885"/>
            <a:ext cx="711498" cy="692094"/>
          </a:xfrm>
          <a:custGeom>
            <a:avLst/>
            <a:gdLst/>
            <a:ahLst/>
            <a:cxnLst/>
            <a:rect l="l" t="t" r="r" b="b"/>
            <a:pathLst>
              <a:path w="711498" h="692094">
                <a:moveTo>
                  <a:pt x="0" y="0"/>
                </a:moveTo>
                <a:lnTo>
                  <a:pt x="711498" y="0"/>
                </a:lnTo>
                <a:lnTo>
                  <a:pt x="711498" y="692094"/>
                </a:lnTo>
                <a:lnTo>
                  <a:pt x="0" y="692094"/>
                </a:lnTo>
                <a:lnTo>
                  <a:pt x="0" y="0"/>
                </a:lnTo>
                <a:close/>
              </a:path>
            </a:pathLst>
          </a:custGeom>
          <a:blipFill>
            <a:blip r:embed="rId5">
              <a:extLst>
                <a:ext uri="{96DAC541-7B7A-43D3-8B79-37D633B846F1}">
                  <asvg:svgBlip xmlns="" xmlns:asvg="http://schemas.microsoft.com/office/drawing/2016/SVG/main" r:embed="rId22"/>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AutoShape 3"/>
          <p:cNvSpPr/>
          <p:nvPr/>
        </p:nvSpPr>
        <p:spPr>
          <a:xfrm>
            <a:off x="2820263" y="2029850"/>
            <a:ext cx="7577353" cy="0"/>
          </a:xfrm>
          <a:prstGeom prst="line">
            <a:avLst/>
          </a:prstGeom>
          <a:ln w="38100" cap="flat">
            <a:solidFill>
              <a:srgbClr val="AEBE63"/>
            </a:solidFill>
            <a:prstDash val="sysDash"/>
            <a:headEnd type="none" w="sm" len="sm"/>
            <a:tailEnd type="none" w="sm" len="sm"/>
          </a:ln>
        </p:spPr>
      </p:sp>
      <p:grpSp>
        <p:nvGrpSpPr>
          <p:cNvPr id="4" name="Group 4"/>
          <p:cNvGrpSpPr/>
          <p:nvPr/>
        </p:nvGrpSpPr>
        <p:grpSpPr>
          <a:xfrm>
            <a:off x="-7720570" y="-313773"/>
            <a:ext cx="8361900" cy="11251028"/>
            <a:chOff x="0" y="0"/>
            <a:chExt cx="2202311" cy="2963234"/>
          </a:xfrm>
        </p:grpSpPr>
        <p:sp>
          <p:nvSpPr>
            <p:cNvPr id="5" name="Freeform 5"/>
            <p:cNvSpPr/>
            <p:nvPr/>
          </p:nvSpPr>
          <p:spPr>
            <a:xfrm>
              <a:off x="0" y="0"/>
              <a:ext cx="2202311" cy="2963234"/>
            </a:xfrm>
            <a:custGeom>
              <a:avLst/>
              <a:gdLst/>
              <a:ahLst/>
              <a:cxnLst/>
              <a:rect l="l" t="t" r="r" b="b"/>
              <a:pathLst>
                <a:path w="2202311" h="2963234">
                  <a:moveTo>
                    <a:pt x="0" y="0"/>
                  </a:moveTo>
                  <a:lnTo>
                    <a:pt x="2202311" y="0"/>
                  </a:lnTo>
                  <a:lnTo>
                    <a:pt x="2202311" y="2963234"/>
                  </a:lnTo>
                  <a:lnTo>
                    <a:pt x="0" y="2963234"/>
                  </a:lnTo>
                  <a:close/>
                </a:path>
              </a:pathLst>
            </a:custGeom>
            <a:solidFill>
              <a:srgbClr val="5C7D52"/>
            </a:solidFill>
          </p:spPr>
        </p:sp>
        <p:sp>
          <p:nvSpPr>
            <p:cNvPr id="6" name="TextBox 6"/>
            <p:cNvSpPr txBox="1"/>
            <p:nvPr/>
          </p:nvSpPr>
          <p:spPr>
            <a:xfrm>
              <a:off x="0" y="-38100"/>
              <a:ext cx="2202311" cy="3001334"/>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886892" y="2201300"/>
            <a:ext cx="12307690" cy="1265894"/>
          </a:xfrm>
          <a:prstGeom prst="rect">
            <a:avLst/>
          </a:prstGeom>
        </p:spPr>
        <p:txBody>
          <a:bodyPr lIns="0" tIns="0" rIns="0" bIns="0" rtlCol="0" anchor="t">
            <a:spAutoFit/>
          </a:bodyPr>
          <a:lstStyle/>
          <a:p>
            <a:pPr algn="l">
              <a:lnSpc>
                <a:spcPts val="3359"/>
              </a:lnSpc>
            </a:pPr>
            <a:r>
              <a:rPr lang="en-US" sz="2776">
                <a:solidFill>
                  <a:srgbClr val="3B5F3E"/>
                </a:solidFill>
                <a:latin typeface="Dreaming Outloud Sans"/>
                <a:ea typeface="Dreaming Outloud Sans"/>
                <a:cs typeface="Dreaming Outloud Sans"/>
                <a:sym typeface="Dreaming Outloud Sans"/>
              </a:rPr>
              <a:t>1-Performance: Pages and dashboards must load within 3 seconds under normal usage. The payment process must complete without delays to ensure a smooth and frustration-free user experience.</a:t>
            </a:r>
          </a:p>
        </p:txBody>
      </p:sp>
      <p:sp>
        <p:nvSpPr>
          <p:cNvPr id="14" name="TextBox 14"/>
          <p:cNvSpPr txBox="1"/>
          <p:nvPr/>
        </p:nvSpPr>
        <p:spPr>
          <a:xfrm>
            <a:off x="2570293" y="322665"/>
            <a:ext cx="8077292" cy="1688135"/>
          </a:xfrm>
          <a:prstGeom prst="rect">
            <a:avLst/>
          </a:prstGeom>
        </p:spPr>
        <p:txBody>
          <a:bodyPr lIns="0" tIns="0" rIns="0" bIns="0" rtlCol="0" anchor="t">
            <a:spAutoFit/>
          </a:bodyPr>
          <a:lstStyle/>
          <a:p>
            <a:pPr algn="ctr">
              <a:lnSpc>
                <a:spcPts val="6462"/>
              </a:lnSpc>
            </a:pPr>
            <a:r>
              <a:rPr lang="en-US" sz="6462">
                <a:solidFill>
                  <a:srgbClr val="3B5F3E"/>
                </a:solidFill>
                <a:latin typeface="Balmy"/>
                <a:ea typeface="Balmy"/>
                <a:cs typeface="Balmy"/>
                <a:sym typeface="Balmy"/>
              </a:rPr>
              <a:t>Non-Functional Requirements</a:t>
            </a:r>
          </a:p>
        </p:txBody>
      </p:sp>
      <p:sp>
        <p:nvSpPr>
          <p:cNvPr id="18" name="TextBox 18"/>
          <p:cNvSpPr txBox="1"/>
          <p:nvPr/>
        </p:nvSpPr>
        <p:spPr>
          <a:xfrm>
            <a:off x="886892" y="3716401"/>
            <a:ext cx="12307690" cy="1672874"/>
          </a:xfrm>
          <a:prstGeom prst="rect">
            <a:avLst/>
          </a:prstGeom>
        </p:spPr>
        <p:txBody>
          <a:bodyPr lIns="0" tIns="0" rIns="0" bIns="0" rtlCol="0" anchor="t">
            <a:spAutoFit/>
          </a:bodyPr>
          <a:lstStyle/>
          <a:p>
            <a:pPr algn="l">
              <a:lnSpc>
                <a:spcPts val="3359"/>
              </a:lnSpc>
            </a:pPr>
            <a:r>
              <a:rPr lang="en-US" sz="2776">
                <a:solidFill>
                  <a:srgbClr val="3B5F3E"/>
                </a:solidFill>
                <a:latin typeface="Dreaming Outloud Sans"/>
                <a:ea typeface="Dreaming Outloud Sans"/>
                <a:cs typeface="Dreaming Outloud Sans"/>
                <a:sym typeface="Dreaming Outloud Sans"/>
              </a:rPr>
              <a:t>2-Security: All user data and payment information must be fully encrypted during transfer and storage. Passwords are stored using secure hashing algorithms and are never saved in plain text. Each user can only access their own data based on their role in the system.</a:t>
            </a:r>
          </a:p>
        </p:txBody>
      </p:sp>
      <p:sp>
        <p:nvSpPr>
          <p:cNvPr id="19" name="TextBox 19"/>
          <p:cNvSpPr txBox="1"/>
          <p:nvPr/>
        </p:nvSpPr>
        <p:spPr>
          <a:xfrm>
            <a:off x="886892" y="5638481"/>
            <a:ext cx="13634395" cy="1253775"/>
          </a:xfrm>
          <a:prstGeom prst="rect">
            <a:avLst/>
          </a:prstGeom>
        </p:spPr>
        <p:txBody>
          <a:bodyPr lIns="0" tIns="0" rIns="0" bIns="0" rtlCol="0" anchor="t">
            <a:spAutoFit/>
          </a:bodyPr>
          <a:lstStyle/>
          <a:p>
            <a:pPr algn="l">
              <a:lnSpc>
                <a:spcPts val="3358"/>
              </a:lnSpc>
            </a:pPr>
            <a:r>
              <a:rPr lang="en-US" sz="2775">
                <a:solidFill>
                  <a:srgbClr val="3B5F3E"/>
                </a:solidFill>
                <a:latin typeface="Dreaming Outloud Sans"/>
                <a:ea typeface="Dreaming Outloud Sans"/>
                <a:cs typeface="Dreaming Outloud Sans"/>
                <a:sym typeface="Dreaming Outloud Sans"/>
              </a:rPr>
              <a:t>3-Usability: The platform must be simple and intuitive enough that a brand new user can register, fill in their full health profile, and complete their subscription payment in under 5 minutes — without needing any instructions or external help.</a:t>
            </a:r>
          </a:p>
        </p:txBody>
      </p:sp>
      <p:sp>
        <p:nvSpPr>
          <p:cNvPr id="20" name="TextBox 20"/>
          <p:cNvSpPr txBox="1"/>
          <p:nvPr/>
        </p:nvSpPr>
        <p:spPr>
          <a:xfrm>
            <a:off x="886892" y="7139906"/>
            <a:ext cx="13634395" cy="1672875"/>
          </a:xfrm>
          <a:prstGeom prst="rect">
            <a:avLst/>
          </a:prstGeom>
        </p:spPr>
        <p:txBody>
          <a:bodyPr lIns="0" tIns="0" rIns="0" bIns="0" rtlCol="0" anchor="t">
            <a:spAutoFit/>
          </a:bodyPr>
          <a:lstStyle/>
          <a:p>
            <a:pPr algn="l">
              <a:lnSpc>
                <a:spcPts val="3358"/>
              </a:lnSpc>
            </a:pPr>
            <a:r>
              <a:rPr lang="en-US" sz="2775">
                <a:solidFill>
                  <a:srgbClr val="3B5F3E"/>
                </a:solidFill>
                <a:latin typeface="Dreaming Outloud Sans"/>
                <a:ea typeface="Dreaming Outloud Sans"/>
                <a:cs typeface="Dreaming Outloud Sans"/>
                <a:sym typeface="Dreaming Outloud Sans"/>
              </a:rPr>
              <a:t>4-Availability: The system must remain available at least 99% of the time, meaning no more than roughly 4 hours of downtime per month. Both users and nutritionists must be able to access the platform at any time of the day without interruption.</a:t>
            </a:r>
          </a:p>
          <a:p>
            <a:pPr algn="l">
              <a:lnSpc>
                <a:spcPts val="3358"/>
              </a:lnSpc>
            </a:pPr>
            <a:endParaRPr lang="en-US" sz="2775">
              <a:solidFill>
                <a:srgbClr val="3B5F3E"/>
              </a:solidFill>
              <a:latin typeface="Dreaming Outloud Sans"/>
              <a:ea typeface="Dreaming Outloud Sans"/>
              <a:cs typeface="Dreaming Outloud Sans"/>
              <a:sym typeface="Dreaming Outloud Sans"/>
            </a:endParaRPr>
          </a:p>
        </p:txBody>
      </p:sp>
      <p:sp>
        <p:nvSpPr>
          <p:cNvPr id="21" name="Freeform 21">
            <a:hlinkClick r:id="rId4" action="ppaction://hlinksldjump"/>
          </p:cNvPr>
          <p:cNvSpPr/>
          <p:nvPr/>
        </p:nvSpPr>
        <p:spPr>
          <a:xfrm>
            <a:off x="1599012" y="188764"/>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5">
              <a:extLst>
                <a:ext uri="{96DAC541-7B7A-43D3-8B79-37D633B846F1}">
                  <asvg:svgBlip xmlns="" xmlns:asvg="http://schemas.microsoft.com/office/drawing/2016/SVG/main" r:embed="rId24"/>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AutoShape 3"/>
          <p:cNvSpPr/>
          <p:nvPr/>
        </p:nvSpPr>
        <p:spPr>
          <a:xfrm>
            <a:off x="3915413" y="1991750"/>
            <a:ext cx="7577353" cy="0"/>
          </a:xfrm>
          <a:prstGeom prst="line">
            <a:avLst/>
          </a:prstGeom>
          <a:ln w="38100" cap="flat">
            <a:solidFill>
              <a:srgbClr val="AEBE63"/>
            </a:solidFill>
            <a:prstDash val="sysDash"/>
            <a:headEnd type="none" w="sm" len="sm"/>
            <a:tailEnd type="none" w="sm" len="sm"/>
          </a:ln>
        </p:spPr>
      </p:sp>
      <p:grpSp>
        <p:nvGrpSpPr>
          <p:cNvPr id="4" name="Group 4"/>
          <p:cNvGrpSpPr/>
          <p:nvPr/>
        </p:nvGrpSpPr>
        <p:grpSpPr>
          <a:xfrm>
            <a:off x="-7720570" y="-313773"/>
            <a:ext cx="8361900" cy="11251028"/>
            <a:chOff x="0" y="0"/>
            <a:chExt cx="2202311" cy="2963234"/>
          </a:xfrm>
        </p:grpSpPr>
        <p:sp>
          <p:nvSpPr>
            <p:cNvPr id="5" name="Freeform 5"/>
            <p:cNvSpPr/>
            <p:nvPr/>
          </p:nvSpPr>
          <p:spPr>
            <a:xfrm>
              <a:off x="0" y="0"/>
              <a:ext cx="2202311" cy="2963234"/>
            </a:xfrm>
            <a:custGeom>
              <a:avLst/>
              <a:gdLst/>
              <a:ahLst/>
              <a:cxnLst/>
              <a:rect l="l" t="t" r="r" b="b"/>
              <a:pathLst>
                <a:path w="2202311" h="2963234">
                  <a:moveTo>
                    <a:pt x="0" y="0"/>
                  </a:moveTo>
                  <a:lnTo>
                    <a:pt x="2202311" y="0"/>
                  </a:lnTo>
                  <a:lnTo>
                    <a:pt x="2202311" y="2963234"/>
                  </a:lnTo>
                  <a:lnTo>
                    <a:pt x="0" y="2963234"/>
                  </a:lnTo>
                  <a:close/>
                </a:path>
              </a:pathLst>
            </a:custGeom>
            <a:solidFill>
              <a:srgbClr val="5C7D52"/>
            </a:solidFill>
          </p:spPr>
        </p:sp>
        <p:sp>
          <p:nvSpPr>
            <p:cNvPr id="6" name="TextBox 6"/>
            <p:cNvSpPr txBox="1"/>
            <p:nvPr/>
          </p:nvSpPr>
          <p:spPr>
            <a:xfrm>
              <a:off x="0" y="-38100"/>
              <a:ext cx="2202311" cy="3001334"/>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886892" y="2201300"/>
            <a:ext cx="12307690" cy="1689034"/>
          </a:xfrm>
          <a:prstGeom prst="rect">
            <a:avLst/>
          </a:prstGeom>
        </p:spPr>
        <p:txBody>
          <a:bodyPr lIns="0" tIns="0" rIns="0" bIns="0" rtlCol="0" anchor="t">
            <a:spAutoFit/>
          </a:bodyPr>
          <a:lstStyle/>
          <a:p>
            <a:pPr algn="l">
              <a:lnSpc>
                <a:spcPts val="3359"/>
              </a:lnSpc>
            </a:pPr>
            <a:r>
              <a:rPr lang="en-US" sz="2776">
                <a:solidFill>
                  <a:srgbClr val="3B5F3E"/>
                </a:solidFill>
                <a:latin typeface="Dreaming Outloud Sans"/>
                <a:ea typeface="Dreaming Outloud Sans"/>
                <a:cs typeface="Dreaming Outloud Sans"/>
                <a:sym typeface="Dreaming Outloud Sans"/>
              </a:rPr>
              <a:t>5-Scalability: The system must be built to grow. As the number of users and nutritionists increases over time, the platform must continue to perform at the same speed and quality without crashing or slowing down.</a:t>
            </a:r>
          </a:p>
          <a:p>
            <a:pPr algn="l">
              <a:lnSpc>
                <a:spcPts val="3359"/>
              </a:lnSpc>
            </a:pPr>
            <a:endParaRPr lang="en-US" sz="2776">
              <a:solidFill>
                <a:srgbClr val="3B5F3E"/>
              </a:solidFill>
              <a:latin typeface="Dreaming Outloud Sans"/>
              <a:ea typeface="Dreaming Outloud Sans"/>
              <a:cs typeface="Dreaming Outloud Sans"/>
              <a:sym typeface="Dreaming Outloud Sans"/>
            </a:endParaRPr>
          </a:p>
        </p:txBody>
      </p:sp>
      <p:sp>
        <p:nvSpPr>
          <p:cNvPr id="13" name="TextBox 13"/>
          <p:cNvSpPr txBox="1"/>
          <p:nvPr/>
        </p:nvSpPr>
        <p:spPr>
          <a:xfrm>
            <a:off x="2570293" y="322665"/>
            <a:ext cx="10211207" cy="1688135"/>
          </a:xfrm>
          <a:prstGeom prst="rect">
            <a:avLst/>
          </a:prstGeom>
        </p:spPr>
        <p:txBody>
          <a:bodyPr lIns="0" tIns="0" rIns="0" bIns="0" rtlCol="0" anchor="t">
            <a:spAutoFit/>
          </a:bodyPr>
          <a:lstStyle/>
          <a:p>
            <a:pPr algn="ctr">
              <a:lnSpc>
                <a:spcPts val="6462"/>
              </a:lnSpc>
            </a:pPr>
            <a:r>
              <a:rPr lang="en-US" sz="6462">
                <a:solidFill>
                  <a:srgbClr val="3B5F3E"/>
                </a:solidFill>
                <a:latin typeface="Balmy"/>
                <a:ea typeface="Balmy"/>
                <a:cs typeface="Balmy"/>
                <a:sym typeface="Balmy"/>
              </a:rPr>
              <a:t>Non-Functional Requirements-continued</a:t>
            </a:r>
          </a:p>
        </p:txBody>
      </p:sp>
      <p:sp>
        <p:nvSpPr>
          <p:cNvPr id="17" name="TextBox 17"/>
          <p:cNvSpPr txBox="1"/>
          <p:nvPr/>
        </p:nvSpPr>
        <p:spPr>
          <a:xfrm>
            <a:off x="886892" y="3745480"/>
            <a:ext cx="12307690" cy="1265894"/>
          </a:xfrm>
          <a:prstGeom prst="rect">
            <a:avLst/>
          </a:prstGeom>
        </p:spPr>
        <p:txBody>
          <a:bodyPr lIns="0" tIns="0" rIns="0" bIns="0" rtlCol="0" anchor="t">
            <a:spAutoFit/>
          </a:bodyPr>
          <a:lstStyle/>
          <a:p>
            <a:pPr algn="l">
              <a:lnSpc>
                <a:spcPts val="3359"/>
              </a:lnSpc>
            </a:pPr>
            <a:r>
              <a:rPr lang="en-US" sz="2776">
                <a:solidFill>
                  <a:srgbClr val="3B5F3E"/>
                </a:solidFill>
                <a:latin typeface="Dreaming Outloud Sans"/>
                <a:ea typeface="Dreaming Outloud Sans"/>
                <a:cs typeface="Dreaming Outloud Sans"/>
                <a:sym typeface="Dreaming Outloud Sans"/>
              </a:rPr>
              <a:t>6-Reliability: Payment processing must be fully accurate and dependable at all times. No payment should ever be lost, duplicated, or incorrectly charged. In the event of a system crash, no user data or transaction records should be lost.</a:t>
            </a:r>
          </a:p>
        </p:txBody>
      </p:sp>
      <p:sp>
        <p:nvSpPr>
          <p:cNvPr id="18" name="TextBox 18"/>
          <p:cNvSpPr txBox="1"/>
          <p:nvPr/>
        </p:nvSpPr>
        <p:spPr>
          <a:xfrm>
            <a:off x="886892" y="5311741"/>
            <a:ext cx="13634395" cy="1253775"/>
          </a:xfrm>
          <a:prstGeom prst="rect">
            <a:avLst/>
          </a:prstGeom>
        </p:spPr>
        <p:txBody>
          <a:bodyPr lIns="0" tIns="0" rIns="0" bIns="0" rtlCol="0" anchor="t">
            <a:spAutoFit/>
          </a:bodyPr>
          <a:lstStyle/>
          <a:p>
            <a:pPr algn="l">
              <a:lnSpc>
                <a:spcPts val="3358"/>
              </a:lnSpc>
            </a:pPr>
            <a:r>
              <a:rPr lang="en-US" sz="2775">
                <a:solidFill>
                  <a:srgbClr val="3B5F3E"/>
                </a:solidFill>
                <a:latin typeface="Dreaming Outloud Sans"/>
                <a:ea typeface="Dreaming Outloud Sans"/>
                <a:cs typeface="Dreaming Outloud Sans"/>
                <a:sym typeface="Dreaming Outloud Sans"/>
              </a:rPr>
              <a:t>7-Maintainability: The codebase must be clean, well-structured, and easy to understand. Any developer joining the project should be able to fix bugs or add new features without breaking existing functionality or needing to rewrite large parts of the system.</a:t>
            </a:r>
          </a:p>
        </p:txBody>
      </p:sp>
      <p:sp>
        <p:nvSpPr>
          <p:cNvPr id="19" name="TextBox 19"/>
          <p:cNvSpPr txBox="1"/>
          <p:nvPr/>
        </p:nvSpPr>
        <p:spPr>
          <a:xfrm>
            <a:off x="886892" y="6908416"/>
            <a:ext cx="12307690" cy="1265894"/>
          </a:xfrm>
          <a:prstGeom prst="rect">
            <a:avLst/>
          </a:prstGeom>
        </p:spPr>
        <p:txBody>
          <a:bodyPr lIns="0" tIns="0" rIns="0" bIns="0" rtlCol="0" anchor="t">
            <a:spAutoFit/>
          </a:bodyPr>
          <a:lstStyle/>
          <a:p>
            <a:pPr algn="l">
              <a:lnSpc>
                <a:spcPts val="3359"/>
              </a:lnSpc>
            </a:pPr>
            <a:r>
              <a:rPr lang="en-US" sz="2776">
                <a:solidFill>
                  <a:srgbClr val="3B5F3E"/>
                </a:solidFill>
                <a:latin typeface="Dreaming Outloud Sans"/>
                <a:ea typeface="Dreaming Outloud Sans"/>
                <a:cs typeface="Dreaming Outloud Sans"/>
                <a:sym typeface="Dreaming Outloud Sans"/>
              </a:rPr>
              <a:t>8-Compatibility: The platform must work correctly across all major browsers including Chrome, Firefox, Safari, and Edge. It must also display and function properly on both desktop and mobile screen sizes without any loss of feature.</a:t>
            </a:r>
          </a:p>
        </p:txBody>
      </p:sp>
      <p:sp>
        <p:nvSpPr>
          <p:cNvPr id="21" name="Freeform 21">
            <a:hlinkClick r:id="rId4" action="ppaction://hlinksldjump"/>
          </p:cNvPr>
          <p:cNvSpPr/>
          <p:nvPr/>
        </p:nvSpPr>
        <p:spPr>
          <a:xfrm>
            <a:off x="1599012" y="188764"/>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5">
              <a:extLst>
                <a:ext uri="{96DAC541-7B7A-43D3-8B79-37D633B846F1}">
                  <asvg:svgBlip xmlns="" xmlns:asvg="http://schemas.microsoft.com/office/drawing/2016/SVG/main" r:embed="rId24"/>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5" name="AutoShape 5"/>
          <p:cNvSpPr/>
          <p:nvPr/>
        </p:nvSpPr>
        <p:spPr>
          <a:xfrm>
            <a:off x="5355324" y="3018754"/>
            <a:ext cx="7577353" cy="0"/>
          </a:xfrm>
          <a:prstGeom prst="line">
            <a:avLst/>
          </a:prstGeom>
          <a:ln w="38100" cap="flat">
            <a:solidFill>
              <a:srgbClr val="AEBE63"/>
            </a:solidFill>
            <a:prstDash val="sysDash"/>
            <a:headEnd type="none" w="sm" len="sm"/>
            <a:tailEnd type="none" w="sm" len="sm"/>
          </a:ln>
        </p:spPr>
      </p:sp>
      <p:sp>
        <p:nvSpPr>
          <p:cNvPr id="10" name="TextBox 10"/>
          <p:cNvSpPr txBox="1"/>
          <p:nvPr/>
        </p:nvSpPr>
        <p:spPr>
          <a:xfrm>
            <a:off x="3486023" y="3281158"/>
            <a:ext cx="11315954" cy="8390890"/>
          </a:xfrm>
          <a:prstGeom prst="rect">
            <a:avLst/>
          </a:prstGeom>
        </p:spPr>
        <p:txBody>
          <a:bodyPr lIns="0" tIns="0" rIns="0" bIns="0" rtlCol="0" anchor="t">
            <a:spAutoFit/>
          </a:bodyPr>
          <a:lstStyle/>
          <a:p>
            <a:pPr algn="ctr">
              <a:lnSpc>
                <a:spcPts val="4759"/>
              </a:lnSpc>
              <a:spcBef>
                <a:spcPct val="0"/>
              </a:spcBef>
            </a:pPr>
            <a:r>
              <a:rPr lang="en-US" sz="3399">
                <a:solidFill>
                  <a:srgbClr val="3B5F3E"/>
                </a:solidFill>
                <a:latin typeface="Dreaming Outloud Sans"/>
                <a:ea typeface="Dreaming Outloud Sans"/>
                <a:cs typeface="Dreaming Outloud Sans"/>
                <a:sym typeface="Dreaming Outloud Sans"/>
              </a:rPr>
              <a:t>This section presents the visual models of the Nutrition Tracker system. Five UML diagrams were created to document the system from different perspectives, covering user behavior, system workflow, object structure, time-ordered interactions, and security threats. Together they provide a complete picture of how the system is designed and how its components relate to each other.</a:t>
            </a:r>
          </a:p>
          <a:p>
            <a:pPr algn="ctr">
              <a:lnSpc>
                <a:spcPts val="4759"/>
              </a:lnSpc>
              <a:spcBef>
                <a:spcPct val="0"/>
              </a:spcBef>
            </a:pPr>
            <a:endParaRPr lang="en-US" sz="3399">
              <a:solidFill>
                <a:srgbClr val="3B5F3E"/>
              </a:solidFill>
              <a:latin typeface="Dreaming Outloud Sans"/>
              <a:ea typeface="Dreaming Outloud Sans"/>
              <a:cs typeface="Dreaming Outloud Sans"/>
              <a:sym typeface="Dreaming Outloud Sans"/>
            </a:endParaRPr>
          </a:p>
          <a:p>
            <a:pPr algn="ctr">
              <a:lnSpc>
                <a:spcPts val="4759"/>
              </a:lnSpc>
              <a:spcBef>
                <a:spcPct val="0"/>
              </a:spcBef>
            </a:pPr>
            <a:endParaRPr lang="en-US" sz="3399">
              <a:solidFill>
                <a:srgbClr val="3B5F3E"/>
              </a:solidFill>
              <a:latin typeface="Dreaming Outloud Sans"/>
              <a:ea typeface="Dreaming Outloud Sans"/>
              <a:cs typeface="Dreaming Outloud Sans"/>
              <a:sym typeface="Dreaming Outloud Sans"/>
            </a:endParaRPr>
          </a:p>
          <a:p>
            <a:pPr algn="ctr">
              <a:lnSpc>
                <a:spcPts val="4759"/>
              </a:lnSpc>
              <a:spcBef>
                <a:spcPct val="0"/>
              </a:spcBef>
            </a:pPr>
            <a:endParaRPr lang="en-US" sz="3399">
              <a:solidFill>
                <a:srgbClr val="3B5F3E"/>
              </a:solidFill>
              <a:latin typeface="Dreaming Outloud Sans"/>
              <a:ea typeface="Dreaming Outloud Sans"/>
              <a:cs typeface="Dreaming Outloud Sans"/>
              <a:sym typeface="Dreaming Outloud Sans"/>
            </a:endParaRPr>
          </a:p>
          <a:p>
            <a:pPr algn="ctr">
              <a:lnSpc>
                <a:spcPts val="4759"/>
              </a:lnSpc>
              <a:spcBef>
                <a:spcPct val="0"/>
              </a:spcBef>
            </a:pPr>
            <a:endParaRPr lang="en-US" sz="3399">
              <a:solidFill>
                <a:srgbClr val="3B5F3E"/>
              </a:solidFill>
              <a:latin typeface="Dreaming Outloud Sans"/>
              <a:ea typeface="Dreaming Outloud Sans"/>
              <a:cs typeface="Dreaming Outloud Sans"/>
              <a:sym typeface="Dreaming Outloud Sans"/>
            </a:endParaRPr>
          </a:p>
          <a:p>
            <a:pPr algn="ctr">
              <a:lnSpc>
                <a:spcPts val="4759"/>
              </a:lnSpc>
              <a:spcBef>
                <a:spcPct val="0"/>
              </a:spcBef>
            </a:pPr>
            <a:endParaRPr lang="en-US" sz="3399">
              <a:solidFill>
                <a:srgbClr val="3B5F3E"/>
              </a:solidFill>
              <a:latin typeface="Dreaming Outloud Sans"/>
              <a:ea typeface="Dreaming Outloud Sans"/>
              <a:cs typeface="Dreaming Outloud Sans"/>
              <a:sym typeface="Dreaming Outloud Sans"/>
            </a:endParaRPr>
          </a:p>
          <a:p>
            <a:pPr algn="ctr">
              <a:lnSpc>
                <a:spcPts val="4759"/>
              </a:lnSpc>
              <a:spcBef>
                <a:spcPct val="0"/>
              </a:spcBef>
            </a:pPr>
            <a:endParaRPr lang="en-US" sz="3399">
              <a:solidFill>
                <a:srgbClr val="3B5F3E"/>
              </a:solidFill>
              <a:latin typeface="Dreaming Outloud Sans"/>
              <a:ea typeface="Dreaming Outloud Sans"/>
              <a:cs typeface="Dreaming Outloud Sans"/>
              <a:sym typeface="Dreaming Outloud Sans"/>
            </a:endParaRPr>
          </a:p>
          <a:p>
            <a:pPr algn="ctr">
              <a:lnSpc>
                <a:spcPts val="4759"/>
              </a:lnSpc>
              <a:spcBef>
                <a:spcPct val="0"/>
              </a:spcBef>
            </a:pPr>
            <a:endParaRPr lang="en-US" sz="3399">
              <a:solidFill>
                <a:srgbClr val="3B5F3E"/>
              </a:solidFill>
              <a:latin typeface="Dreaming Outloud Sans"/>
              <a:ea typeface="Dreaming Outloud Sans"/>
              <a:cs typeface="Dreaming Outloud Sans"/>
              <a:sym typeface="Dreaming Outloud Sans"/>
            </a:endParaRPr>
          </a:p>
        </p:txBody>
      </p:sp>
      <p:sp>
        <p:nvSpPr>
          <p:cNvPr id="11" name="TextBox 11"/>
          <p:cNvSpPr txBox="1"/>
          <p:nvPr/>
        </p:nvSpPr>
        <p:spPr>
          <a:xfrm>
            <a:off x="2500095" y="1733918"/>
            <a:ext cx="13287809" cy="1110700"/>
          </a:xfrm>
          <a:prstGeom prst="rect">
            <a:avLst/>
          </a:prstGeom>
        </p:spPr>
        <p:txBody>
          <a:bodyPr lIns="0" tIns="0" rIns="0" bIns="0" rtlCol="0" anchor="t">
            <a:spAutoFit/>
          </a:bodyPr>
          <a:lstStyle/>
          <a:p>
            <a:pPr algn="ctr">
              <a:lnSpc>
                <a:spcPts val="9046"/>
              </a:lnSpc>
              <a:spcBef>
                <a:spcPct val="0"/>
              </a:spcBef>
            </a:pPr>
            <a:r>
              <a:rPr lang="en-US" sz="6462">
                <a:solidFill>
                  <a:srgbClr val="3B5F3E"/>
                </a:solidFill>
                <a:latin typeface="Balmy"/>
                <a:ea typeface="Balmy"/>
                <a:cs typeface="Balmy"/>
                <a:sym typeface="Balmy"/>
              </a:rPr>
              <a:t>UML Design</a:t>
            </a:r>
          </a:p>
        </p:txBody>
      </p:sp>
      <p:sp>
        <p:nvSpPr>
          <p:cNvPr id="13" name="Freeform 13">
            <a:hlinkClick r:id="rId4" action="ppaction://hlinksldjump"/>
          </p:cNvPr>
          <p:cNvSpPr/>
          <p:nvPr/>
        </p:nvSpPr>
        <p:spPr>
          <a:xfrm>
            <a:off x="1599012" y="272660"/>
            <a:ext cx="711498" cy="692094"/>
          </a:xfrm>
          <a:custGeom>
            <a:avLst/>
            <a:gdLst/>
            <a:ahLst/>
            <a:cxnLst/>
            <a:rect l="l" t="t" r="r" b="b"/>
            <a:pathLst>
              <a:path w="711498" h="692094">
                <a:moveTo>
                  <a:pt x="0" y="0"/>
                </a:moveTo>
                <a:lnTo>
                  <a:pt x="711498" y="0"/>
                </a:lnTo>
                <a:lnTo>
                  <a:pt x="711498" y="692094"/>
                </a:lnTo>
                <a:lnTo>
                  <a:pt x="0" y="692094"/>
                </a:lnTo>
                <a:lnTo>
                  <a:pt x="0" y="0"/>
                </a:lnTo>
                <a:close/>
              </a:path>
            </a:pathLst>
          </a:custGeom>
          <a:blipFill>
            <a:blip r:embed="rId5">
              <a:extLst>
                <a:ext uri="{96DAC541-7B7A-43D3-8B79-37D633B846F1}">
                  <asvg:svgBlip xmlns="" xmlns:asvg="http://schemas.microsoft.com/office/drawing/2016/SVG/main" r:embed="rId20"/>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AutoShape 3"/>
          <p:cNvSpPr/>
          <p:nvPr/>
        </p:nvSpPr>
        <p:spPr>
          <a:xfrm>
            <a:off x="5355324" y="2220461"/>
            <a:ext cx="7577353" cy="0"/>
          </a:xfrm>
          <a:prstGeom prst="line">
            <a:avLst/>
          </a:prstGeom>
          <a:ln w="38100" cap="flat">
            <a:solidFill>
              <a:srgbClr val="AEBE63"/>
            </a:solidFill>
            <a:prstDash val="sysDash"/>
            <a:headEnd type="none" w="sm" len="sm"/>
            <a:tailEnd type="none" w="sm" len="sm"/>
          </a:ln>
        </p:spPr>
      </p:sp>
      <p:grpSp>
        <p:nvGrpSpPr>
          <p:cNvPr id="4" name="Group 4"/>
          <p:cNvGrpSpPr/>
          <p:nvPr/>
        </p:nvGrpSpPr>
        <p:grpSpPr>
          <a:xfrm>
            <a:off x="-818901" y="9543470"/>
            <a:ext cx="21190993" cy="4741148"/>
            <a:chOff x="0" y="0"/>
            <a:chExt cx="5581167" cy="1248697"/>
          </a:xfrm>
        </p:grpSpPr>
        <p:sp>
          <p:nvSpPr>
            <p:cNvPr id="5" name="Freeform 5"/>
            <p:cNvSpPr/>
            <p:nvPr/>
          </p:nvSpPr>
          <p:spPr>
            <a:xfrm>
              <a:off x="0" y="0"/>
              <a:ext cx="5581167" cy="1248697"/>
            </a:xfrm>
            <a:custGeom>
              <a:avLst/>
              <a:gdLst/>
              <a:ahLst/>
              <a:cxnLst/>
              <a:rect l="l" t="t" r="r" b="b"/>
              <a:pathLst>
                <a:path w="5581167" h="1248697">
                  <a:moveTo>
                    <a:pt x="0" y="0"/>
                  </a:moveTo>
                  <a:lnTo>
                    <a:pt x="5581167" y="0"/>
                  </a:lnTo>
                  <a:lnTo>
                    <a:pt x="5581167" y="1248697"/>
                  </a:lnTo>
                  <a:lnTo>
                    <a:pt x="0" y="1248697"/>
                  </a:lnTo>
                  <a:close/>
                </a:path>
              </a:pathLst>
            </a:custGeom>
            <a:solidFill>
              <a:srgbClr val="5C7D52"/>
            </a:solidFill>
          </p:spPr>
        </p:sp>
        <p:sp>
          <p:nvSpPr>
            <p:cNvPr id="6" name="TextBox 6"/>
            <p:cNvSpPr txBox="1"/>
            <p:nvPr/>
          </p:nvSpPr>
          <p:spPr>
            <a:xfrm>
              <a:off x="0" y="-38100"/>
              <a:ext cx="5581167" cy="128679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3283035" y="2858095"/>
            <a:ext cx="11658186" cy="5990590"/>
          </a:xfrm>
          <a:prstGeom prst="rect">
            <a:avLst/>
          </a:prstGeom>
        </p:spPr>
        <p:txBody>
          <a:bodyPr lIns="0" tIns="0" rIns="0" bIns="0" rtlCol="0" anchor="t">
            <a:spAutoFit/>
          </a:bodyPr>
          <a:lstStyle/>
          <a:p>
            <a:pPr algn="ctr">
              <a:lnSpc>
                <a:spcPts val="4759"/>
              </a:lnSpc>
              <a:spcBef>
                <a:spcPct val="0"/>
              </a:spcBef>
            </a:pPr>
            <a:r>
              <a:rPr lang="en-US" sz="3399">
                <a:solidFill>
                  <a:srgbClr val="3B5F3E"/>
                </a:solidFill>
                <a:latin typeface="Dreaming Outloud Sans"/>
                <a:ea typeface="Dreaming Outloud Sans"/>
                <a:cs typeface="Dreaming Outloud Sans"/>
                <a:sym typeface="Dreaming Outloud Sans"/>
              </a:rPr>
              <a:t>This diagram shows who uses the system and what they can do. The User registers, logs in, fills their profile, chooses a subscription, pays, views their meal plan, and sends progress updates. The Nutritionist views client data, analyzes it, and creates or updates the meal plan. The Admin manages users, nutritionists, and subscriptions. The Payment Gateway processes and confirms the payment. Some actions are linked together — for example applying a discount extends the payment step, and confirming payment is included as part of processing it.</a:t>
            </a:r>
          </a:p>
        </p:txBody>
      </p:sp>
      <p:sp>
        <p:nvSpPr>
          <p:cNvPr id="15" name="TextBox 15"/>
          <p:cNvSpPr txBox="1"/>
          <p:nvPr/>
        </p:nvSpPr>
        <p:spPr>
          <a:xfrm>
            <a:off x="4974277" y="1128811"/>
            <a:ext cx="8077292" cy="1110700"/>
          </a:xfrm>
          <a:prstGeom prst="rect">
            <a:avLst/>
          </a:prstGeom>
        </p:spPr>
        <p:txBody>
          <a:bodyPr lIns="0" tIns="0" rIns="0" bIns="0" rtlCol="0" anchor="t">
            <a:spAutoFit/>
          </a:bodyPr>
          <a:lstStyle/>
          <a:p>
            <a:pPr algn="ctr">
              <a:lnSpc>
                <a:spcPts val="9046"/>
              </a:lnSpc>
              <a:spcBef>
                <a:spcPct val="0"/>
              </a:spcBef>
            </a:pPr>
            <a:r>
              <a:rPr lang="en-US" sz="6462">
                <a:solidFill>
                  <a:srgbClr val="3B5F3E"/>
                </a:solidFill>
                <a:latin typeface="Balmy"/>
                <a:ea typeface="Balmy"/>
                <a:cs typeface="Balmy"/>
                <a:sym typeface="Balmy"/>
              </a:rPr>
              <a:t>1-UseCase Diagram</a:t>
            </a:r>
          </a:p>
        </p:txBody>
      </p:sp>
      <p:sp>
        <p:nvSpPr>
          <p:cNvPr id="20" name="Freeform 20">
            <a:hlinkClick r:id="rId4" action="ppaction://hlinksldjump"/>
          </p:cNvPr>
          <p:cNvSpPr/>
          <p:nvPr/>
        </p:nvSpPr>
        <p:spPr>
          <a:xfrm>
            <a:off x="1599012" y="191894"/>
            <a:ext cx="711498" cy="692094"/>
          </a:xfrm>
          <a:custGeom>
            <a:avLst/>
            <a:gdLst/>
            <a:ahLst/>
            <a:cxnLst/>
            <a:rect l="l" t="t" r="r" b="b"/>
            <a:pathLst>
              <a:path w="711498" h="692094">
                <a:moveTo>
                  <a:pt x="0" y="0"/>
                </a:moveTo>
                <a:lnTo>
                  <a:pt x="711498" y="0"/>
                </a:lnTo>
                <a:lnTo>
                  <a:pt x="711498" y="692094"/>
                </a:lnTo>
                <a:lnTo>
                  <a:pt x="0" y="692094"/>
                </a:lnTo>
                <a:lnTo>
                  <a:pt x="0" y="0"/>
                </a:lnTo>
                <a:close/>
              </a:path>
            </a:pathLst>
          </a:custGeom>
          <a:blipFill>
            <a:blip r:embed="rId5">
              <a:extLst>
                <a:ext uri="{96DAC541-7B7A-43D3-8B79-37D633B846F1}">
                  <asvg:svgBlip xmlns="" xmlns:asvg="http://schemas.microsoft.com/office/drawing/2016/SVG/main" r:embed="rId24"/>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4679665" y="215696"/>
            <a:ext cx="8928670" cy="9855609"/>
          </a:xfrm>
          <a:custGeom>
            <a:avLst/>
            <a:gdLst/>
            <a:ahLst/>
            <a:cxnLst/>
            <a:rect l="l" t="t" r="r" b="b"/>
            <a:pathLst>
              <a:path w="8928670" h="9855609">
                <a:moveTo>
                  <a:pt x="0" y="0"/>
                </a:moveTo>
                <a:lnTo>
                  <a:pt x="8928670" y="0"/>
                </a:lnTo>
                <a:lnTo>
                  <a:pt x="8928670" y="9855608"/>
                </a:lnTo>
                <a:lnTo>
                  <a:pt x="0" y="9855608"/>
                </a:lnTo>
                <a:lnTo>
                  <a:pt x="0" y="0"/>
                </a:lnTo>
                <a:close/>
              </a:path>
            </a:pathLst>
          </a:custGeom>
          <a:blipFill>
            <a:blip r:embed="rId4"/>
            <a:stretch>
              <a:fillRect r="-304"/>
            </a:stretch>
          </a:blipFill>
        </p:spPr>
      </p:sp>
      <p:sp>
        <p:nvSpPr>
          <p:cNvPr id="4" name="Freeform 4">
            <a:hlinkClick r:id="rId5" action="ppaction://hlinksldjump"/>
          </p:cNvPr>
          <p:cNvSpPr/>
          <p:nvPr/>
        </p:nvSpPr>
        <p:spPr>
          <a:xfrm>
            <a:off x="1599012" y="111128"/>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AutoShape 3"/>
          <p:cNvSpPr/>
          <p:nvPr/>
        </p:nvSpPr>
        <p:spPr>
          <a:xfrm>
            <a:off x="5520969" y="1875478"/>
            <a:ext cx="7577353" cy="0"/>
          </a:xfrm>
          <a:prstGeom prst="line">
            <a:avLst/>
          </a:prstGeom>
          <a:ln w="38100" cap="flat">
            <a:solidFill>
              <a:srgbClr val="AEBE63"/>
            </a:solidFill>
            <a:prstDash val="sysDash"/>
            <a:headEnd type="none" w="sm" len="sm"/>
            <a:tailEnd type="none" w="sm" len="sm"/>
          </a:ln>
        </p:spPr>
      </p:sp>
      <p:grpSp>
        <p:nvGrpSpPr>
          <p:cNvPr id="4" name="Group 4"/>
          <p:cNvGrpSpPr/>
          <p:nvPr/>
        </p:nvGrpSpPr>
        <p:grpSpPr>
          <a:xfrm>
            <a:off x="-2702205" y="-3530212"/>
            <a:ext cx="22791292" cy="4160024"/>
            <a:chOff x="0" y="0"/>
            <a:chExt cx="6002645" cy="1095644"/>
          </a:xfrm>
        </p:grpSpPr>
        <p:sp>
          <p:nvSpPr>
            <p:cNvPr id="5" name="Freeform 5"/>
            <p:cNvSpPr/>
            <p:nvPr/>
          </p:nvSpPr>
          <p:spPr>
            <a:xfrm>
              <a:off x="0" y="0"/>
              <a:ext cx="6002645" cy="1095644"/>
            </a:xfrm>
            <a:custGeom>
              <a:avLst/>
              <a:gdLst/>
              <a:ahLst/>
              <a:cxnLst/>
              <a:rect l="l" t="t" r="r" b="b"/>
              <a:pathLst>
                <a:path w="6002645" h="1095644">
                  <a:moveTo>
                    <a:pt x="0" y="0"/>
                  </a:moveTo>
                  <a:lnTo>
                    <a:pt x="6002645" y="0"/>
                  </a:lnTo>
                  <a:lnTo>
                    <a:pt x="6002645" y="1095644"/>
                  </a:lnTo>
                  <a:lnTo>
                    <a:pt x="0" y="1095644"/>
                  </a:lnTo>
                  <a:close/>
                </a:path>
              </a:pathLst>
            </a:custGeom>
            <a:solidFill>
              <a:srgbClr val="5C7D52"/>
            </a:solidFill>
          </p:spPr>
        </p:sp>
        <p:sp>
          <p:nvSpPr>
            <p:cNvPr id="6" name="TextBox 6"/>
            <p:cNvSpPr txBox="1"/>
            <p:nvPr/>
          </p:nvSpPr>
          <p:spPr>
            <a:xfrm>
              <a:off x="0" y="-38100"/>
              <a:ext cx="6002645" cy="1133744"/>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350904" y="2302748"/>
            <a:ext cx="9947028" cy="5990590"/>
          </a:xfrm>
          <a:prstGeom prst="rect">
            <a:avLst/>
          </a:prstGeom>
        </p:spPr>
        <p:txBody>
          <a:bodyPr lIns="0" tIns="0" rIns="0" bIns="0" rtlCol="0" anchor="t">
            <a:spAutoFit/>
          </a:bodyPr>
          <a:lstStyle/>
          <a:p>
            <a:pPr algn="ctr">
              <a:lnSpc>
                <a:spcPts val="4759"/>
              </a:lnSpc>
              <a:spcBef>
                <a:spcPct val="0"/>
              </a:spcBef>
            </a:pPr>
            <a:r>
              <a:rPr lang="en-US" sz="3399">
                <a:solidFill>
                  <a:srgbClr val="3B5F3E"/>
                </a:solidFill>
                <a:latin typeface="Dreaming Outloud Sans"/>
                <a:ea typeface="Dreaming Outloud Sans"/>
                <a:cs typeface="Dreaming Outloud Sans"/>
                <a:sym typeface="Dreaming Outloud Sans"/>
              </a:rPr>
              <a:t>This diagram shows the flow of the system from start to finish. The user opens the app, registers if new or logs in if already registered. Then they fill in their personal info, select their goals, and enter their training details. After that they choose a subscription plan and make a payment, with an option to apply a discount first. Once payment is confirmed the nutritionist gets notified, views the user data, and creates the meal plan. The user then views their meal plan and sends progress updates to the nutritionist.</a:t>
            </a:r>
          </a:p>
        </p:txBody>
      </p:sp>
      <p:sp>
        <p:nvSpPr>
          <p:cNvPr id="13" name="TextBox 13"/>
          <p:cNvSpPr txBox="1"/>
          <p:nvPr/>
        </p:nvSpPr>
        <p:spPr>
          <a:xfrm>
            <a:off x="4190572" y="849017"/>
            <a:ext cx="9906856" cy="1110700"/>
          </a:xfrm>
          <a:prstGeom prst="rect">
            <a:avLst/>
          </a:prstGeom>
        </p:spPr>
        <p:txBody>
          <a:bodyPr lIns="0" tIns="0" rIns="0" bIns="0" rtlCol="0" anchor="t">
            <a:spAutoFit/>
          </a:bodyPr>
          <a:lstStyle/>
          <a:p>
            <a:pPr algn="ctr">
              <a:lnSpc>
                <a:spcPts val="9046"/>
              </a:lnSpc>
              <a:spcBef>
                <a:spcPct val="0"/>
              </a:spcBef>
            </a:pPr>
            <a:r>
              <a:rPr lang="en-US" sz="6462">
                <a:solidFill>
                  <a:srgbClr val="3B5F3E"/>
                </a:solidFill>
                <a:latin typeface="Balmy"/>
                <a:ea typeface="Balmy"/>
                <a:cs typeface="Balmy"/>
                <a:sym typeface="Balmy"/>
              </a:rPr>
              <a:t>2-Activity Diagram</a:t>
            </a:r>
          </a:p>
        </p:txBody>
      </p:sp>
      <p:sp>
        <p:nvSpPr>
          <p:cNvPr id="20" name="Freeform 20">
            <a:hlinkClick r:id="rId4" action="ppaction://hlinksldjump"/>
          </p:cNvPr>
          <p:cNvSpPr/>
          <p:nvPr/>
        </p:nvSpPr>
        <p:spPr>
          <a:xfrm>
            <a:off x="1599012" y="30362"/>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5">
              <a:extLst>
                <a:ext uri="{96DAC541-7B7A-43D3-8B79-37D633B846F1}">
                  <asvg:svgBlip xmlns="" xmlns:asvg="http://schemas.microsoft.com/office/drawing/2016/SVG/main" r:embed="rId26"/>
                </a:ext>
              </a:extLst>
            </a:blip>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6578400" y="244980"/>
            <a:ext cx="5131200" cy="9797040"/>
          </a:xfrm>
          <a:custGeom>
            <a:avLst/>
            <a:gdLst/>
            <a:ahLst/>
            <a:cxnLst/>
            <a:rect l="l" t="t" r="r" b="b"/>
            <a:pathLst>
              <a:path w="5131200" h="9797040">
                <a:moveTo>
                  <a:pt x="0" y="0"/>
                </a:moveTo>
                <a:lnTo>
                  <a:pt x="5131200" y="0"/>
                </a:lnTo>
                <a:lnTo>
                  <a:pt x="5131200" y="9797040"/>
                </a:lnTo>
                <a:lnTo>
                  <a:pt x="0" y="9797040"/>
                </a:lnTo>
                <a:lnTo>
                  <a:pt x="0" y="0"/>
                </a:lnTo>
                <a:close/>
              </a:path>
            </a:pathLst>
          </a:custGeom>
          <a:blipFill>
            <a:blip r:embed="rId4"/>
            <a:stretch>
              <a:fillRect/>
            </a:stretch>
          </a:blipFill>
        </p:spPr>
      </p:sp>
      <p:sp>
        <p:nvSpPr>
          <p:cNvPr id="4" name="Freeform 4">
            <a:hlinkClick r:id="rId5" action="ppaction://hlinksldjump"/>
          </p:cNvPr>
          <p:cNvSpPr/>
          <p:nvPr/>
        </p:nvSpPr>
        <p:spPr>
          <a:xfrm>
            <a:off x="1599012" y="214642"/>
            <a:ext cx="711498" cy="692094"/>
          </a:xfrm>
          <a:custGeom>
            <a:avLst/>
            <a:gdLst/>
            <a:ahLst/>
            <a:cxnLst/>
            <a:rect l="l" t="t" r="r" b="b"/>
            <a:pathLst>
              <a:path w="711498" h="692094">
                <a:moveTo>
                  <a:pt x="0" y="0"/>
                </a:moveTo>
                <a:lnTo>
                  <a:pt x="711498" y="0"/>
                </a:lnTo>
                <a:lnTo>
                  <a:pt x="711498" y="692094"/>
                </a:lnTo>
                <a:lnTo>
                  <a:pt x="0" y="692094"/>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AutoShape 3"/>
          <p:cNvSpPr/>
          <p:nvPr/>
        </p:nvSpPr>
        <p:spPr>
          <a:xfrm>
            <a:off x="4222607" y="1390928"/>
            <a:ext cx="7577353" cy="0"/>
          </a:xfrm>
          <a:prstGeom prst="line">
            <a:avLst/>
          </a:prstGeom>
          <a:ln w="38100" cap="flat">
            <a:solidFill>
              <a:srgbClr val="AEBE63"/>
            </a:solidFill>
            <a:prstDash val="sysDash"/>
            <a:headEnd type="none" w="sm" len="sm"/>
            <a:tailEnd type="none" w="sm" len="sm"/>
          </a:ln>
        </p:spPr>
      </p:sp>
      <p:grpSp>
        <p:nvGrpSpPr>
          <p:cNvPr id="4" name="Group 4"/>
          <p:cNvGrpSpPr/>
          <p:nvPr/>
        </p:nvGrpSpPr>
        <p:grpSpPr>
          <a:xfrm>
            <a:off x="14956217" y="-158777"/>
            <a:ext cx="8361900" cy="11251028"/>
            <a:chOff x="0" y="0"/>
            <a:chExt cx="2202311" cy="2963234"/>
          </a:xfrm>
        </p:grpSpPr>
        <p:sp>
          <p:nvSpPr>
            <p:cNvPr id="5" name="Freeform 5"/>
            <p:cNvSpPr/>
            <p:nvPr/>
          </p:nvSpPr>
          <p:spPr>
            <a:xfrm>
              <a:off x="0" y="0"/>
              <a:ext cx="2202311" cy="2963234"/>
            </a:xfrm>
            <a:custGeom>
              <a:avLst/>
              <a:gdLst/>
              <a:ahLst/>
              <a:cxnLst/>
              <a:rect l="l" t="t" r="r" b="b"/>
              <a:pathLst>
                <a:path w="2202311" h="2963234">
                  <a:moveTo>
                    <a:pt x="0" y="0"/>
                  </a:moveTo>
                  <a:lnTo>
                    <a:pt x="2202311" y="0"/>
                  </a:lnTo>
                  <a:lnTo>
                    <a:pt x="2202311" y="2963234"/>
                  </a:lnTo>
                  <a:lnTo>
                    <a:pt x="0" y="2963234"/>
                  </a:lnTo>
                  <a:close/>
                </a:path>
              </a:pathLst>
            </a:custGeom>
            <a:solidFill>
              <a:srgbClr val="5C7D52"/>
            </a:solidFill>
          </p:spPr>
        </p:sp>
        <p:sp>
          <p:nvSpPr>
            <p:cNvPr id="6" name="TextBox 6"/>
            <p:cNvSpPr txBox="1"/>
            <p:nvPr/>
          </p:nvSpPr>
          <p:spPr>
            <a:xfrm>
              <a:off x="0" y="-38100"/>
              <a:ext cx="2202311" cy="3001334"/>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7720570" y="-313773"/>
            <a:ext cx="8361900" cy="11251028"/>
            <a:chOff x="0" y="0"/>
            <a:chExt cx="2202311" cy="2963234"/>
          </a:xfrm>
        </p:grpSpPr>
        <p:sp>
          <p:nvSpPr>
            <p:cNvPr id="8" name="Freeform 8"/>
            <p:cNvSpPr/>
            <p:nvPr/>
          </p:nvSpPr>
          <p:spPr>
            <a:xfrm>
              <a:off x="0" y="0"/>
              <a:ext cx="2202311" cy="2963234"/>
            </a:xfrm>
            <a:custGeom>
              <a:avLst/>
              <a:gdLst/>
              <a:ahLst/>
              <a:cxnLst/>
              <a:rect l="l" t="t" r="r" b="b"/>
              <a:pathLst>
                <a:path w="2202311" h="2963234">
                  <a:moveTo>
                    <a:pt x="0" y="0"/>
                  </a:moveTo>
                  <a:lnTo>
                    <a:pt x="2202311" y="0"/>
                  </a:lnTo>
                  <a:lnTo>
                    <a:pt x="2202311" y="2963234"/>
                  </a:lnTo>
                  <a:lnTo>
                    <a:pt x="0" y="2963234"/>
                  </a:lnTo>
                  <a:close/>
                </a:path>
              </a:pathLst>
            </a:custGeom>
            <a:solidFill>
              <a:srgbClr val="5C7D52"/>
            </a:solidFill>
          </p:spPr>
        </p:sp>
        <p:sp>
          <p:nvSpPr>
            <p:cNvPr id="9" name="TextBox 9"/>
            <p:cNvSpPr txBox="1"/>
            <p:nvPr/>
          </p:nvSpPr>
          <p:spPr>
            <a:xfrm>
              <a:off x="0" y="-38100"/>
              <a:ext cx="2202311" cy="3001334"/>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3655466" y="2334174"/>
            <a:ext cx="8711634" cy="6746113"/>
          </a:xfrm>
          <a:prstGeom prst="rect">
            <a:avLst/>
          </a:prstGeom>
        </p:spPr>
        <p:txBody>
          <a:bodyPr lIns="0" tIns="0" rIns="0" bIns="0" rtlCol="0" anchor="t">
            <a:spAutoFit/>
          </a:bodyPr>
          <a:lstStyle/>
          <a:p>
            <a:pPr algn="ctr">
              <a:lnSpc>
                <a:spcPts val="3535"/>
              </a:lnSpc>
            </a:pPr>
            <a:r>
              <a:rPr lang="en-US" sz="3399">
                <a:solidFill>
                  <a:srgbClr val="3B5F3E"/>
                </a:solidFill>
                <a:latin typeface="Dreaming Outloud Sans"/>
                <a:ea typeface="Dreaming Outloud Sans"/>
                <a:cs typeface="Dreaming Outloud Sans"/>
                <a:sym typeface="Dreaming Outloud Sans"/>
              </a:rPr>
              <a:t>This diagram shows the messages exchanged between the four participants — User, Nutritionist, Payment Gateway, and System — in time order. The user either registers or logs in depending on whether they have an account. Then they enter their personal info and select a subscription plan. If they have a discount they apply it, if not they go straight to payment. The payment gateway processes the transaction and confirms it back to the system, which then notifies the user. The nutritionist gets notified of the new client, views the user data, and uploads the meal plan. The system then notifies the user that their meal plan is ready.</a:t>
            </a:r>
          </a:p>
        </p:txBody>
      </p:sp>
      <p:sp>
        <p:nvSpPr>
          <p:cNvPr id="19" name="TextBox 19"/>
          <p:cNvSpPr txBox="1"/>
          <p:nvPr/>
        </p:nvSpPr>
        <p:spPr>
          <a:xfrm>
            <a:off x="4289807" y="521943"/>
            <a:ext cx="8077292" cy="868985"/>
          </a:xfrm>
          <a:prstGeom prst="rect">
            <a:avLst/>
          </a:prstGeom>
        </p:spPr>
        <p:txBody>
          <a:bodyPr lIns="0" tIns="0" rIns="0" bIns="0" rtlCol="0" anchor="t">
            <a:spAutoFit/>
          </a:bodyPr>
          <a:lstStyle/>
          <a:p>
            <a:pPr algn="l">
              <a:lnSpc>
                <a:spcPts val="6462"/>
              </a:lnSpc>
            </a:pPr>
            <a:r>
              <a:rPr lang="en-US" sz="6462">
                <a:solidFill>
                  <a:srgbClr val="3B5F3E"/>
                </a:solidFill>
                <a:latin typeface="Balmy"/>
                <a:ea typeface="Balmy"/>
                <a:cs typeface="Balmy"/>
                <a:sym typeface="Balmy"/>
              </a:rPr>
              <a:t>3-Sequence Diagram</a:t>
            </a:r>
          </a:p>
        </p:txBody>
      </p:sp>
      <p:sp>
        <p:nvSpPr>
          <p:cNvPr id="20" name="Freeform 20">
            <a:hlinkClick r:id="rId4" action="ppaction://hlinksldjump"/>
          </p:cNvPr>
          <p:cNvSpPr/>
          <p:nvPr/>
        </p:nvSpPr>
        <p:spPr>
          <a:xfrm>
            <a:off x="1599012" y="111128"/>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5">
              <a:extLst>
                <a:ext uri="{96DAC541-7B7A-43D3-8B79-37D633B846F1}">
                  <asvg:svgBlip xmlns="" xmlns:asvg="http://schemas.microsoft.com/office/drawing/2016/SVG/main" r:embed="rId20"/>
                </a:ext>
              </a:extLst>
            </a:blip>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5313143" y="99294"/>
            <a:ext cx="7661713" cy="10088411"/>
          </a:xfrm>
          <a:custGeom>
            <a:avLst/>
            <a:gdLst/>
            <a:ahLst/>
            <a:cxnLst/>
            <a:rect l="l" t="t" r="r" b="b"/>
            <a:pathLst>
              <a:path w="7661713" h="10088411">
                <a:moveTo>
                  <a:pt x="0" y="0"/>
                </a:moveTo>
                <a:lnTo>
                  <a:pt x="7661714" y="0"/>
                </a:lnTo>
                <a:lnTo>
                  <a:pt x="7661714" y="10088412"/>
                </a:lnTo>
                <a:lnTo>
                  <a:pt x="0" y="10088412"/>
                </a:lnTo>
                <a:lnTo>
                  <a:pt x="0" y="0"/>
                </a:lnTo>
                <a:close/>
              </a:path>
            </a:pathLst>
          </a:custGeom>
          <a:blipFill>
            <a:blip r:embed="rId4"/>
            <a:stretch>
              <a:fillRect/>
            </a:stretch>
          </a:blipFill>
        </p:spPr>
      </p:sp>
      <p:sp>
        <p:nvSpPr>
          <p:cNvPr id="4" name="Freeform 4">
            <a:hlinkClick r:id="rId5" action="ppaction://hlinksldjump"/>
          </p:cNvPr>
          <p:cNvSpPr/>
          <p:nvPr/>
        </p:nvSpPr>
        <p:spPr>
          <a:xfrm>
            <a:off x="1599012" y="61596"/>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AutoShape 3"/>
          <p:cNvSpPr/>
          <p:nvPr/>
        </p:nvSpPr>
        <p:spPr>
          <a:xfrm>
            <a:off x="2715986" y="1226512"/>
            <a:ext cx="8715936" cy="0"/>
          </a:xfrm>
          <a:prstGeom prst="line">
            <a:avLst/>
          </a:prstGeom>
          <a:ln w="38100" cap="flat">
            <a:solidFill>
              <a:srgbClr val="AEBE63"/>
            </a:solidFill>
            <a:prstDash val="sysDash"/>
            <a:headEnd type="none" w="sm" len="sm"/>
            <a:tailEnd type="none" w="sm" len="sm"/>
          </a:ln>
        </p:spPr>
      </p:sp>
      <p:grpSp>
        <p:nvGrpSpPr>
          <p:cNvPr id="4" name="Group 4"/>
          <p:cNvGrpSpPr/>
          <p:nvPr/>
        </p:nvGrpSpPr>
        <p:grpSpPr>
          <a:xfrm>
            <a:off x="-7720570" y="-313773"/>
            <a:ext cx="8361900" cy="11251028"/>
            <a:chOff x="0" y="0"/>
            <a:chExt cx="2202311" cy="2963234"/>
          </a:xfrm>
        </p:grpSpPr>
        <p:sp>
          <p:nvSpPr>
            <p:cNvPr id="5" name="Freeform 5"/>
            <p:cNvSpPr/>
            <p:nvPr/>
          </p:nvSpPr>
          <p:spPr>
            <a:xfrm>
              <a:off x="0" y="0"/>
              <a:ext cx="2202311" cy="2963234"/>
            </a:xfrm>
            <a:custGeom>
              <a:avLst/>
              <a:gdLst/>
              <a:ahLst/>
              <a:cxnLst/>
              <a:rect l="l" t="t" r="r" b="b"/>
              <a:pathLst>
                <a:path w="2202311" h="2963234">
                  <a:moveTo>
                    <a:pt x="0" y="0"/>
                  </a:moveTo>
                  <a:lnTo>
                    <a:pt x="2202311" y="0"/>
                  </a:lnTo>
                  <a:lnTo>
                    <a:pt x="2202311" y="2963234"/>
                  </a:lnTo>
                  <a:lnTo>
                    <a:pt x="0" y="2963234"/>
                  </a:lnTo>
                  <a:close/>
                </a:path>
              </a:pathLst>
            </a:custGeom>
            <a:solidFill>
              <a:srgbClr val="5C7D52"/>
            </a:solidFill>
          </p:spPr>
        </p:sp>
        <p:sp>
          <p:nvSpPr>
            <p:cNvPr id="6" name="TextBox 6"/>
            <p:cNvSpPr txBox="1"/>
            <p:nvPr/>
          </p:nvSpPr>
          <p:spPr>
            <a:xfrm>
              <a:off x="0" y="-38100"/>
              <a:ext cx="2202311" cy="3001334"/>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523231" y="357527"/>
            <a:ext cx="8908691" cy="868985"/>
          </a:xfrm>
          <a:prstGeom prst="rect">
            <a:avLst/>
          </a:prstGeom>
        </p:spPr>
        <p:txBody>
          <a:bodyPr lIns="0" tIns="0" rIns="0" bIns="0" rtlCol="0" anchor="t">
            <a:spAutoFit/>
          </a:bodyPr>
          <a:lstStyle/>
          <a:p>
            <a:pPr algn="l">
              <a:lnSpc>
                <a:spcPts val="6462"/>
              </a:lnSpc>
            </a:pPr>
            <a:r>
              <a:rPr lang="en-US" sz="6462">
                <a:solidFill>
                  <a:srgbClr val="3B5F3E"/>
                </a:solidFill>
                <a:latin typeface="Balmy"/>
                <a:ea typeface="Balmy"/>
                <a:cs typeface="Balmy"/>
                <a:sym typeface="Balmy"/>
              </a:rPr>
              <a:t>4-Misuse Case Diagram</a:t>
            </a:r>
          </a:p>
        </p:txBody>
      </p:sp>
      <p:sp>
        <p:nvSpPr>
          <p:cNvPr id="16" name="TextBox 16"/>
          <p:cNvSpPr txBox="1"/>
          <p:nvPr/>
        </p:nvSpPr>
        <p:spPr>
          <a:xfrm>
            <a:off x="1604244" y="1349980"/>
            <a:ext cx="10746664" cy="7784851"/>
          </a:xfrm>
          <a:prstGeom prst="rect">
            <a:avLst/>
          </a:prstGeom>
        </p:spPr>
        <p:txBody>
          <a:bodyPr lIns="0" tIns="0" rIns="0" bIns="0" rtlCol="0" anchor="t">
            <a:spAutoFit/>
          </a:bodyPr>
          <a:lstStyle/>
          <a:p>
            <a:pPr algn="ctr">
              <a:lnSpc>
                <a:spcPts val="5683"/>
              </a:lnSpc>
            </a:pPr>
            <a:r>
              <a:rPr lang="en-US" sz="3193">
                <a:solidFill>
                  <a:srgbClr val="3B5F3E"/>
                </a:solidFill>
                <a:latin typeface="Dreaming Outloud Sans"/>
                <a:ea typeface="Dreaming Outloud Sans"/>
                <a:cs typeface="Dreaming Outloud Sans"/>
                <a:sym typeface="Dreaming Outloud Sans"/>
              </a:rPr>
              <a:t>This diagram extends the use case diagram to show potential security threats and how the system defends against them. An attacker tries to harm the system in five ways. First, creating fake accounts — blocked by email verification on signup. Second, brute force login attempts — blocked by locking the account after 5 failed tries. Third, SQL injection attacks on the inputs — blocked by validating and sanitizing all user inputs. Fourth, using fake or stolen discount codes — blocked by one-use limits and code validation. Fifth, man-in-the-middle attacks on payment — blocked by enforcing HTTPS and using a trusted payment gateway.</a:t>
            </a:r>
          </a:p>
        </p:txBody>
      </p:sp>
      <p:sp>
        <p:nvSpPr>
          <p:cNvPr id="17" name="Freeform 17">
            <a:hlinkClick r:id="rId4" action="ppaction://hlinksldjump"/>
          </p:cNvPr>
          <p:cNvSpPr/>
          <p:nvPr/>
        </p:nvSpPr>
        <p:spPr>
          <a:xfrm>
            <a:off x="1599012" y="188764"/>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5">
              <a:extLst>
                <a:ext uri="{96DAC541-7B7A-43D3-8B79-37D633B846F1}">
                  <asvg:svgBlip xmlns="" xmlns:asvg="http://schemas.microsoft.com/office/drawing/2016/SVG/main" r:embed="rId20"/>
                </a:ext>
              </a:extLst>
            </a:blip>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4607588" y="151343"/>
            <a:ext cx="9072824" cy="9984314"/>
          </a:xfrm>
          <a:custGeom>
            <a:avLst/>
            <a:gdLst/>
            <a:ahLst/>
            <a:cxnLst/>
            <a:rect l="l" t="t" r="r" b="b"/>
            <a:pathLst>
              <a:path w="9072824" h="9984314">
                <a:moveTo>
                  <a:pt x="0" y="0"/>
                </a:moveTo>
                <a:lnTo>
                  <a:pt x="9072824" y="0"/>
                </a:lnTo>
                <a:lnTo>
                  <a:pt x="9072824" y="9984314"/>
                </a:lnTo>
                <a:lnTo>
                  <a:pt x="0" y="9984314"/>
                </a:lnTo>
                <a:lnTo>
                  <a:pt x="0" y="0"/>
                </a:lnTo>
                <a:close/>
              </a:path>
            </a:pathLst>
          </a:custGeom>
          <a:blipFill>
            <a:blip r:embed="rId4"/>
            <a:stretch>
              <a:fillRect/>
            </a:stretch>
          </a:blipFill>
        </p:spPr>
      </p:sp>
      <p:sp>
        <p:nvSpPr>
          <p:cNvPr id="4" name="Freeform 4">
            <a:hlinkClick r:id="rId5" action="ppaction://hlinksldjump"/>
          </p:cNvPr>
          <p:cNvSpPr/>
          <p:nvPr/>
        </p:nvSpPr>
        <p:spPr>
          <a:xfrm>
            <a:off x="1599012" y="188764"/>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AutoShape 3"/>
          <p:cNvSpPr/>
          <p:nvPr/>
        </p:nvSpPr>
        <p:spPr>
          <a:xfrm>
            <a:off x="5355324" y="1857257"/>
            <a:ext cx="7577353" cy="0"/>
          </a:xfrm>
          <a:prstGeom prst="line">
            <a:avLst/>
          </a:prstGeom>
          <a:ln w="38100" cap="flat">
            <a:solidFill>
              <a:srgbClr val="AEBE63"/>
            </a:solidFill>
            <a:prstDash val="sysDash"/>
            <a:headEnd type="none" w="sm" len="sm"/>
            <a:tailEnd type="none" w="sm" len="sm"/>
          </a:ln>
        </p:spPr>
      </p:sp>
      <p:grpSp>
        <p:nvGrpSpPr>
          <p:cNvPr id="4" name="Group 4"/>
          <p:cNvGrpSpPr/>
          <p:nvPr/>
        </p:nvGrpSpPr>
        <p:grpSpPr>
          <a:xfrm>
            <a:off x="-2702205" y="-3530212"/>
            <a:ext cx="22791292" cy="4160024"/>
            <a:chOff x="0" y="0"/>
            <a:chExt cx="6002645" cy="1095644"/>
          </a:xfrm>
        </p:grpSpPr>
        <p:sp>
          <p:nvSpPr>
            <p:cNvPr id="5" name="Freeform 5"/>
            <p:cNvSpPr/>
            <p:nvPr/>
          </p:nvSpPr>
          <p:spPr>
            <a:xfrm>
              <a:off x="0" y="0"/>
              <a:ext cx="6002645" cy="1095644"/>
            </a:xfrm>
            <a:custGeom>
              <a:avLst/>
              <a:gdLst/>
              <a:ahLst/>
              <a:cxnLst/>
              <a:rect l="l" t="t" r="r" b="b"/>
              <a:pathLst>
                <a:path w="6002645" h="1095644">
                  <a:moveTo>
                    <a:pt x="0" y="0"/>
                  </a:moveTo>
                  <a:lnTo>
                    <a:pt x="6002645" y="0"/>
                  </a:lnTo>
                  <a:lnTo>
                    <a:pt x="6002645" y="1095644"/>
                  </a:lnTo>
                  <a:lnTo>
                    <a:pt x="0" y="1095644"/>
                  </a:lnTo>
                  <a:close/>
                </a:path>
              </a:pathLst>
            </a:custGeom>
            <a:solidFill>
              <a:srgbClr val="5C7D52"/>
            </a:solidFill>
          </p:spPr>
        </p:sp>
        <p:sp>
          <p:nvSpPr>
            <p:cNvPr id="6" name="TextBox 6"/>
            <p:cNvSpPr txBox="1"/>
            <p:nvPr/>
          </p:nvSpPr>
          <p:spPr>
            <a:xfrm>
              <a:off x="0" y="-38100"/>
              <a:ext cx="6002645" cy="1133744"/>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150400" y="1958581"/>
            <a:ext cx="9947028" cy="7790815"/>
          </a:xfrm>
          <a:prstGeom prst="rect">
            <a:avLst/>
          </a:prstGeom>
        </p:spPr>
        <p:txBody>
          <a:bodyPr lIns="0" tIns="0" rIns="0" bIns="0" rtlCol="0" anchor="t">
            <a:spAutoFit/>
          </a:bodyPr>
          <a:lstStyle/>
          <a:p>
            <a:pPr algn="ctr">
              <a:lnSpc>
                <a:spcPts val="4759"/>
              </a:lnSpc>
              <a:spcBef>
                <a:spcPct val="0"/>
              </a:spcBef>
            </a:pPr>
            <a:r>
              <a:rPr lang="en-US" sz="3399">
                <a:solidFill>
                  <a:srgbClr val="3B5F3E"/>
                </a:solidFill>
                <a:latin typeface="Dreaming Outloud Sans"/>
                <a:ea typeface="Dreaming Outloud Sans"/>
                <a:cs typeface="Dreaming Outloud Sans"/>
                <a:sym typeface="Dreaming Outloud Sans"/>
              </a:rPr>
              <a:t>This diagram shows the structure of the system using classes. There is one parent class called SystemUser which holds the shared attributes — id, name, email, and password — and one shared method which is login. Three classes inherit from it. The User class adds personal information, goal, training routine, and subscription plan, with methods to register, make a payment, view the meal plan, send progress, and cancel the subscription. The Admin class has methods to manage users, manage nutritionists, and monitor activity. The Nutritionist class holds the meal plan attribute and has methods to view user info, analyze user data, and create a meal plan.</a:t>
            </a:r>
          </a:p>
        </p:txBody>
      </p:sp>
      <p:sp>
        <p:nvSpPr>
          <p:cNvPr id="13" name="TextBox 13"/>
          <p:cNvSpPr txBox="1"/>
          <p:nvPr/>
        </p:nvSpPr>
        <p:spPr>
          <a:xfrm>
            <a:off x="4190572" y="894752"/>
            <a:ext cx="9906856" cy="1110700"/>
          </a:xfrm>
          <a:prstGeom prst="rect">
            <a:avLst/>
          </a:prstGeom>
        </p:spPr>
        <p:txBody>
          <a:bodyPr lIns="0" tIns="0" rIns="0" bIns="0" rtlCol="0" anchor="t">
            <a:spAutoFit/>
          </a:bodyPr>
          <a:lstStyle/>
          <a:p>
            <a:pPr algn="ctr">
              <a:lnSpc>
                <a:spcPts val="9046"/>
              </a:lnSpc>
              <a:spcBef>
                <a:spcPct val="0"/>
              </a:spcBef>
            </a:pPr>
            <a:r>
              <a:rPr lang="en-US" sz="6462">
                <a:solidFill>
                  <a:srgbClr val="3B5F3E"/>
                </a:solidFill>
                <a:latin typeface="Balmy"/>
                <a:ea typeface="Balmy"/>
                <a:cs typeface="Balmy"/>
                <a:sym typeface="Balmy"/>
              </a:rPr>
              <a:t>5-class Diagram</a:t>
            </a:r>
          </a:p>
        </p:txBody>
      </p:sp>
      <p:sp>
        <p:nvSpPr>
          <p:cNvPr id="20" name="Freeform 20">
            <a:hlinkClick r:id="rId4" action="ppaction://hlinksldjump"/>
          </p:cNvPr>
          <p:cNvSpPr/>
          <p:nvPr/>
        </p:nvSpPr>
        <p:spPr>
          <a:xfrm>
            <a:off x="1599012" y="188764"/>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5">
              <a:extLst>
                <a:ext uri="{96DAC541-7B7A-43D3-8B79-37D633B846F1}">
                  <asvg:svgBlip xmlns="" xmlns:asvg="http://schemas.microsoft.com/office/drawing/2016/SVG/main" r:embed="rId26"/>
                </a:ext>
              </a:extLst>
            </a:blip>
            <a:stretch>
              <a:fillRect/>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810134" y="851330"/>
            <a:ext cx="14667732" cy="8584341"/>
          </a:xfrm>
          <a:custGeom>
            <a:avLst/>
            <a:gdLst/>
            <a:ahLst/>
            <a:cxnLst/>
            <a:rect l="l" t="t" r="r" b="b"/>
            <a:pathLst>
              <a:path w="14667732" h="8584341">
                <a:moveTo>
                  <a:pt x="0" y="0"/>
                </a:moveTo>
                <a:lnTo>
                  <a:pt x="14667732" y="0"/>
                </a:lnTo>
                <a:lnTo>
                  <a:pt x="14667732" y="8584340"/>
                </a:lnTo>
                <a:lnTo>
                  <a:pt x="0" y="8584340"/>
                </a:lnTo>
                <a:lnTo>
                  <a:pt x="0" y="0"/>
                </a:lnTo>
                <a:close/>
              </a:path>
            </a:pathLst>
          </a:custGeom>
          <a:blipFill>
            <a:blip r:embed="rId4"/>
            <a:stretch>
              <a:fillRect/>
            </a:stretch>
          </a:blipFill>
        </p:spPr>
      </p:sp>
      <p:sp>
        <p:nvSpPr>
          <p:cNvPr id="4" name="Freeform 4">
            <a:hlinkClick r:id="rId5" action="ppaction://hlinksldjump"/>
          </p:cNvPr>
          <p:cNvSpPr/>
          <p:nvPr/>
        </p:nvSpPr>
        <p:spPr>
          <a:xfrm>
            <a:off x="1599012" y="188764"/>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5"/>
                </a:ext>
              </a:extLst>
            </a:blip>
            <a:stretch>
              <a:fillRect/>
            </a:stretch>
          </a:blipFill>
        </p:spPr>
      </p:sp>
      <p:sp>
        <p:nvSpPr>
          <p:cNvPr id="5" name="AutoShape 5"/>
          <p:cNvSpPr/>
          <p:nvPr/>
        </p:nvSpPr>
        <p:spPr>
          <a:xfrm>
            <a:off x="5355324" y="1212575"/>
            <a:ext cx="7577353" cy="0"/>
          </a:xfrm>
          <a:prstGeom prst="line">
            <a:avLst/>
          </a:prstGeom>
          <a:ln w="38100" cap="flat">
            <a:solidFill>
              <a:srgbClr val="AEBE63"/>
            </a:solidFill>
            <a:prstDash val="sysDash"/>
            <a:headEnd type="none" w="sm" len="sm"/>
            <a:tailEnd type="none" w="sm" len="sm"/>
          </a:ln>
        </p:spPr>
      </p:sp>
      <p:sp>
        <p:nvSpPr>
          <p:cNvPr id="12" name="TextBox 12"/>
          <p:cNvSpPr txBox="1"/>
          <p:nvPr/>
        </p:nvSpPr>
        <p:spPr>
          <a:xfrm>
            <a:off x="933462" y="1230922"/>
            <a:ext cx="16258961" cy="641201"/>
          </a:xfrm>
          <a:prstGeom prst="rect">
            <a:avLst/>
          </a:prstGeom>
        </p:spPr>
        <p:txBody>
          <a:bodyPr wrap="square" lIns="0" tIns="0" rIns="0" bIns="0" rtlCol="0" anchor="t">
            <a:spAutoFit/>
          </a:bodyPr>
          <a:lstStyle/>
          <a:p>
            <a:pPr algn="ctr">
              <a:lnSpc>
                <a:spcPts val="5039"/>
              </a:lnSpc>
              <a:spcBef>
                <a:spcPct val="0"/>
              </a:spcBef>
            </a:pPr>
            <a:r>
              <a:rPr lang="en-US" sz="3599" dirty="0">
                <a:solidFill>
                  <a:srgbClr val="3B5F3E"/>
                </a:solidFill>
                <a:latin typeface="Dreaming Outloud Sans"/>
                <a:ea typeface="Dreaming Outloud Sans"/>
                <a:cs typeface="Dreaming Outloud Sans"/>
                <a:sym typeface="Dreaming Outloud Sans"/>
              </a:rPr>
              <a:t>This is a </a:t>
            </a:r>
            <a:r>
              <a:rPr lang="en-US" sz="3599" dirty="0" smtClean="0">
                <a:solidFill>
                  <a:srgbClr val="3B5F3E"/>
                </a:solidFill>
                <a:latin typeface="Dreaming Outloud Sans"/>
                <a:ea typeface="Dreaming Outloud Sans"/>
                <a:cs typeface="Dreaming Outloud Sans"/>
                <a:sym typeface="Dreaming Outloud Sans"/>
              </a:rPr>
              <a:t>pictures for </a:t>
            </a:r>
            <a:r>
              <a:rPr lang="en-US" sz="3599" dirty="0" smtClean="0">
                <a:solidFill>
                  <a:srgbClr val="3B5F3E"/>
                </a:solidFill>
                <a:latin typeface="Dreaming Outloud Sans"/>
                <a:ea typeface="Dreaming Outloud Sans"/>
                <a:cs typeface="Dreaming Outloud Sans"/>
                <a:sym typeface="Dreaming Outloud Sans"/>
              </a:rPr>
              <a:t>explain </a:t>
            </a:r>
            <a:r>
              <a:rPr lang="en-US" sz="3599" dirty="0">
                <a:solidFill>
                  <a:srgbClr val="3B5F3E"/>
                </a:solidFill>
                <a:latin typeface="Dreaming Outloud Sans"/>
                <a:ea typeface="Dreaming Outloud Sans"/>
                <a:cs typeface="Dreaming Outloud Sans"/>
                <a:sym typeface="Dreaming Outloud Sans"/>
              </a:rPr>
              <a:t>our idea as an website for our system</a:t>
            </a:r>
          </a:p>
        </p:txBody>
      </p:sp>
      <p:sp>
        <p:nvSpPr>
          <p:cNvPr id="13" name="TextBox 13"/>
          <p:cNvSpPr txBox="1"/>
          <p:nvPr/>
        </p:nvSpPr>
        <p:spPr>
          <a:xfrm>
            <a:off x="2500095" y="120925"/>
            <a:ext cx="13287809" cy="1110700"/>
          </a:xfrm>
          <a:prstGeom prst="rect">
            <a:avLst/>
          </a:prstGeom>
        </p:spPr>
        <p:txBody>
          <a:bodyPr lIns="0" tIns="0" rIns="0" bIns="0" rtlCol="0" anchor="t">
            <a:spAutoFit/>
          </a:bodyPr>
          <a:lstStyle/>
          <a:p>
            <a:pPr algn="ctr">
              <a:lnSpc>
                <a:spcPts val="9046"/>
              </a:lnSpc>
              <a:spcBef>
                <a:spcPct val="0"/>
              </a:spcBef>
            </a:pPr>
            <a:r>
              <a:rPr lang="en-US" sz="6462">
                <a:solidFill>
                  <a:srgbClr val="3B5F3E"/>
                </a:solidFill>
                <a:latin typeface="Balmy"/>
                <a:ea typeface="Balmy"/>
                <a:cs typeface="Balmy"/>
                <a:sym typeface="Balmy"/>
              </a:rPr>
              <a:t>Implementation</a:t>
            </a:r>
          </a:p>
        </p:txBody>
      </p:sp>
      <p:sp>
        <p:nvSpPr>
          <p:cNvPr id="14" name="Freeform 14">
            <a:hlinkClick r:id="rId6" action="ppaction://hlinksldjump"/>
          </p:cNvPr>
          <p:cNvSpPr/>
          <p:nvPr/>
        </p:nvSpPr>
        <p:spPr>
          <a:xfrm>
            <a:off x="1599012" y="188764"/>
            <a:ext cx="711498" cy="692094"/>
          </a:xfrm>
          <a:custGeom>
            <a:avLst/>
            <a:gdLst/>
            <a:ahLst/>
            <a:cxnLst/>
            <a:rect l="l" t="t" r="r" b="b"/>
            <a:pathLst>
              <a:path w="711498" h="692094">
                <a:moveTo>
                  <a:pt x="0" y="0"/>
                </a:moveTo>
                <a:lnTo>
                  <a:pt x="711498" y="0"/>
                </a:lnTo>
                <a:lnTo>
                  <a:pt x="711498" y="692093"/>
                </a:lnTo>
                <a:lnTo>
                  <a:pt x="0" y="692093"/>
                </a:lnTo>
                <a:lnTo>
                  <a:pt x="0" y="0"/>
                </a:lnTo>
                <a:close/>
              </a:path>
            </a:pathLst>
          </a:custGeom>
          <a:blipFill>
            <a:blip r:embed="rId7">
              <a:extLst>
                <a:ext uri="{96DAC541-7B7A-43D3-8B79-37D633B846F1}">
                  <asvg:svgBlip xmlns="" xmlns:asvg="http://schemas.microsoft.com/office/drawing/2016/SVG/main" r:embed="rId23"/>
                </a:ext>
              </a:extLst>
            </a:blip>
            <a:stretch>
              <a:fillRect/>
            </a:stretch>
          </a:blipFill>
        </p:spPr>
      </p:sp>
      <p:pic>
        <p:nvPicPr>
          <p:cNvPr id="18" name="Picture 17"/>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609600" y="2034729"/>
            <a:ext cx="7298191" cy="3943881"/>
          </a:xfrm>
          <a:prstGeom prst="rect">
            <a:avLst/>
          </a:prstGeom>
        </p:spPr>
      </p:pic>
      <p:pic>
        <p:nvPicPr>
          <p:cNvPr id="19" name="Picture 18"/>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9144000" y="2034729"/>
            <a:ext cx="7403775" cy="3957424"/>
          </a:xfrm>
          <a:prstGeom prst="rect">
            <a:avLst/>
          </a:prstGeom>
        </p:spPr>
      </p:pic>
      <p:pic>
        <p:nvPicPr>
          <p:cNvPr id="20" name="Picture 19"/>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609600" y="6156904"/>
            <a:ext cx="7298191" cy="3933237"/>
          </a:xfrm>
          <a:prstGeom prst="rect">
            <a:avLst/>
          </a:prstGeom>
        </p:spPr>
      </p:pic>
      <p:pic>
        <p:nvPicPr>
          <p:cNvPr id="21" name="Picture 20"/>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9143999" y="6154759"/>
            <a:ext cx="7309849" cy="3935382"/>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sp>
        <p:nvSpPr>
          <p:cNvPr id="3" name="AutoShape 3"/>
          <p:cNvSpPr/>
          <p:nvPr/>
        </p:nvSpPr>
        <p:spPr>
          <a:xfrm>
            <a:off x="7187269" y="1813423"/>
            <a:ext cx="3853104" cy="0"/>
          </a:xfrm>
          <a:prstGeom prst="line">
            <a:avLst/>
          </a:prstGeom>
          <a:ln w="38100" cap="flat">
            <a:solidFill>
              <a:srgbClr val="AEBE63"/>
            </a:solidFill>
            <a:prstDash val="sysDash"/>
            <a:headEnd type="none" w="sm" len="sm"/>
            <a:tailEnd type="none" w="sm" len="sm"/>
          </a:ln>
        </p:spPr>
      </p:sp>
      <p:grpSp>
        <p:nvGrpSpPr>
          <p:cNvPr id="4" name="Group 4"/>
          <p:cNvGrpSpPr/>
          <p:nvPr/>
        </p:nvGrpSpPr>
        <p:grpSpPr>
          <a:xfrm>
            <a:off x="-818901" y="8766531"/>
            <a:ext cx="21190993" cy="4741148"/>
            <a:chOff x="0" y="0"/>
            <a:chExt cx="5581167" cy="1248697"/>
          </a:xfrm>
        </p:grpSpPr>
        <p:sp>
          <p:nvSpPr>
            <p:cNvPr id="5" name="Freeform 5"/>
            <p:cNvSpPr/>
            <p:nvPr/>
          </p:nvSpPr>
          <p:spPr>
            <a:xfrm>
              <a:off x="0" y="0"/>
              <a:ext cx="5581167" cy="1248697"/>
            </a:xfrm>
            <a:custGeom>
              <a:avLst/>
              <a:gdLst/>
              <a:ahLst/>
              <a:cxnLst/>
              <a:rect l="l" t="t" r="r" b="b"/>
              <a:pathLst>
                <a:path w="5581167" h="1248697">
                  <a:moveTo>
                    <a:pt x="0" y="0"/>
                  </a:moveTo>
                  <a:lnTo>
                    <a:pt x="5581167" y="0"/>
                  </a:lnTo>
                  <a:lnTo>
                    <a:pt x="5581167" y="1248697"/>
                  </a:lnTo>
                  <a:lnTo>
                    <a:pt x="0" y="1248697"/>
                  </a:lnTo>
                  <a:close/>
                </a:path>
              </a:pathLst>
            </a:custGeom>
            <a:solidFill>
              <a:srgbClr val="5C7D52"/>
            </a:solidFill>
          </p:spPr>
        </p:sp>
        <p:sp>
          <p:nvSpPr>
            <p:cNvPr id="6" name="TextBox 6"/>
            <p:cNvSpPr txBox="1"/>
            <p:nvPr/>
          </p:nvSpPr>
          <p:spPr>
            <a:xfrm>
              <a:off x="0" y="-38100"/>
              <a:ext cx="5581167" cy="128679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3314907" y="1810067"/>
            <a:ext cx="11658186" cy="6590665"/>
          </a:xfrm>
          <a:prstGeom prst="rect">
            <a:avLst/>
          </a:prstGeom>
        </p:spPr>
        <p:txBody>
          <a:bodyPr lIns="0" tIns="0" rIns="0" bIns="0" rtlCol="0" anchor="t">
            <a:spAutoFit/>
          </a:bodyPr>
          <a:lstStyle/>
          <a:p>
            <a:pPr algn="ctr">
              <a:lnSpc>
                <a:spcPts val="4759"/>
              </a:lnSpc>
              <a:spcBef>
                <a:spcPct val="0"/>
              </a:spcBef>
            </a:pPr>
            <a:r>
              <a:rPr lang="en-US" sz="3399">
                <a:solidFill>
                  <a:srgbClr val="3B5F3E"/>
                </a:solidFill>
                <a:latin typeface="Dreaming Outloud Sans"/>
                <a:ea typeface="Dreaming Outloud Sans"/>
                <a:cs typeface="Dreaming Outloud Sans"/>
                <a:sym typeface="Dreaming Outloud Sans"/>
              </a:rPr>
              <a:t>Conclusion and Summary: The Nutrition Tracker is a complete digital platform that successfully bridges the gap between users and professional nutritionists. The system covers everything from registration and payment to personalized meal planning and progress tracking. It is built with 11 functional requirements covering all major workflows, 8 non-functional requirements ensuring quality, security, and performance, and 5 UML diagrams fully documenting the system design. The result is a secure, scalable, and user-friendly platform that makes professional nutrition guidance accessible to everyone.</a:t>
            </a:r>
          </a:p>
        </p:txBody>
      </p:sp>
      <p:sp>
        <p:nvSpPr>
          <p:cNvPr id="15" name="TextBox 15"/>
          <p:cNvSpPr txBox="1"/>
          <p:nvPr/>
        </p:nvSpPr>
        <p:spPr>
          <a:xfrm>
            <a:off x="5105354" y="702723"/>
            <a:ext cx="8077292" cy="1110700"/>
          </a:xfrm>
          <a:prstGeom prst="rect">
            <a:avLst/>
          </a:prstGeom>
        </p:spPr>
        <p:txBody>
          <a:bodyPr lIns="0" tIns="0" rIns="0" bIns="0" rtlCol="0" anchor="t">
            <a:spAutoFit/>
          </a:bodyPr>
          <a:lstStyle/>
          <a:p>
            <a:pPr algn="ctr">
              <a:lnSpc>
                <a:spcPts val="9046"/>
              </a:lnSpc>
              <a:spcBef>
                <a:spcPct val="0"/>
              </a:spcBef>
            </a:pPr>
            <a:r>
              <a:rPr lang="en-US" sz="6462">
                <a:solidFill>
                  <a:srgbClr val="3B5F3E"/>
                </a:solidFill>
                <a:latin typeface="Balmy"/>
                <a:ea typeface="Balmy"/>
                <a:cs typeface="Balmy"/>
                <a:sym typeface="Balmy"/>
              </a:rPr>
              <a:t>summary</a:t>
            </a:r>
          </a:p>
        </p:txBody>
      </p:sp>
      <p:sp>
        <p:nvSpPr>
          <p:cNvPr id="20" name="Freeform 20">
            <a:hlinkClick r:id="rId4" action="ppaction://hlinksldjump"/>
          </p:cNvPr>
          <p:cNvSpPr/>
          <p:nvPr/>
        </p:nvSpPr>
        <p:spPr>
          <a:xfrm>
            <a:off x="1599012" y="137006"/>
            <a:ext cx="711498" cy="692094"/>
          </a:xfrm>
          <a:custGeom>
            <a:avLst/>
            <a:gdLst/>
            <a:ahLst/>
            <a:cxnLst/>
            <a:rect l="l" t="t" r="r" b="b"/>
            <a:pathLst>
              <a:path w="711498" h="692094">
                <a:moveTo>
                  <a:pt x="0" y="0"/>
                </a:moveTo>
                <a:lnTo>
                  <a:pt x="711498" y="0"/>
                </a:lnTo>
                <a:lnTo>
                  <a:pt x="711498" y="692094"/>
                </a:lnTo>
                <a:lnTo>
                  <a:pt x="0" y="692094"/>
                </a:lnTo>
                <a:lnTo>
                  <a:pt x="0" y="0"/>
                </a:lnTo>
                <a:close/>
              </a:path>
            </a:pathLst>
          </a:custGeom>
          <a:blipFill>
            <a:blip r:embed="rId5">
              <a:extLst>
                <a:ext uri="{96DAC541-7B7A-43D3-8B79-37D633B846F1}">
                  <asvg:svgBlip xmlns="" xmlns:asvg="http://schemas.microsoft.com/office/drawing/2016/SVG/main" r:embed="rId24"/>
                </a:ext>
              </a:extLst>
            </a:blip>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5DE"/>
        </a:solidFill>
        <a:effectLst/>
      </p:bgPr>
    </p:bg>
    <p:spTree>
      <p:nvGrpSpPr>
        <p:cNvPr id="1" name=""/>
        <p:cNvGrpSpPr/>
        <p:nvPr/>
      </p:nvGrpSpPr>
      <p:grpSpPr>
        <a:xfrm>
          <a:off x="0" y="0"/>
          <a:ext cx="0" cy="0"/>
          <a:chOff x="0" y="0"/>
          <a:chExt cx="0" cy="0"/>
        </a:xfrm>
      </p:grpSpPr>
      <p:sp>
        <p:nvSpPr>
          <p:cNvPr id="2" name="Freeform 2"/>
          <p:cNvSpPr/>
          <p:nvPr/>
        </p:nvSpPr>
        <p:spPr>
          <a:xfrm>
            <a:off x="-1469796" y="-2177147"/>
            <a:ext cx="21558883" cy="21558883"/>
          </a:xfrm>
          <a:custGeom>
            <a:avLst/>
            <a:gdLst/>
            <a:ahLst/>
            <a:cxnLst/>
            <a:rect l="l" t="t" r="r" b="b"/>
            <a:pathLst>
              <a:path w="21558883" h="21558883">
                <a:moveTo>
                  <a:pt x="0" y="0"/>
                </a:moveTo>
                <a:lnTo>
                  <a:pt x="21558883" y="0"/>
                </a:lnTo>
                <a:lnTo>
                  <a:pt x="21558883" y="21558883"/>
                </a:lnTo>
                <a:lnTo>
                  <a:pt x="0" y="21558883"/>
                </a:lnTo>
                <a:lnTo>
                  <a:pt x="0" y="0"/>
                </a:lnTo>
                <a:close/>
              </a:path>
            </a:pathLst>
          </a:custGeom>
          <a:blipFill>
            <a:blip r:embed="rId2">
              <a:alphaModFix amt="36000"/>
              <a:extLst>
                <a:ext uri="{96DAC541-7B7A-43D3-8B79-37D633B846F1}">
                  <asvg:svgBlip xmlns="" xmlns:asvg="http://schemas.microsoft.com/office/drawing/2016/SVG/main" r:embed="rId3"/>
                </a:ext>
              </a:extLst>
            </a:blip>
            <a:stretch>
              <a:fillRect/>
            </a:stretch>
          </a:blipFill>
        </p:spPr>
      </p:sp>
      <p:grpSp>
        <p:nvGrpSpPr>
          <p:cNvPr id="4" name="Group 4"/>
          <p:cNvGrpSpPr/>
          <p:nvPr/>
        </p:nvGrpSpPr>
        <p:grpSpPr>
          <a:xfrm>
            <a:off x="-2688758" y="9468085"/>
            <a:ext cx="22791292" cy="11251028"/>
            <a:chOff x="0" y="0"/>
            <a:chExt cx="6002645" cy="2963234"/>
          </a:xfrm>
        </p:grpSpPr>
        <p:sp>
          <p:nvSpPr>
            <p:cNvPr id="5" name="Freeform 5"/>
            <p:cNvSpPr/>
            <p:nvPr/>
          </p:nvSpPr>
          <p:spPr>
            <a:xfrm>
              <a:off x="0" y="0"/>
              <a:ext cx="6002645" cy="2963234"/>
            </a:xfrm>
            <a:custGeom>
              <a:avLst/>
              <a:gdLst/>
              <a:ahLst/>
              <a:cxnLst/>
              <a:rect l="l" t="t" r="r" b="b"/>
              <a:pathLst>
                <a:path w="6002645" h="2963234">
                  <a:moveTo>
                    <a:pt x="0" y="0"/>
                  </a:moveTo>
                  <a:lnTo>
                    <a:pt x="6002645" y="0"/>
                  </a:lnTo>
                  <a:lnTo>
                    <a:pt x="6002645" y="2963234"/>
                  </a:lnTo>
                  <a:lnTo>
                    <a:pt x="0" y="2963234"/>
                  </a:lnTo>
                  <a:close/>
                </a:path>
              </a:pathLst>
            </a:custGeom>
            <a:solidFill>
              <a:srgbClr val="5C7D52"/>
            </a:solidFill>
          </p:spPr>
        </p:sp>
        <p:sp>
          <p:nvSpPr>
            <p:cNvPr id="6" name="TextBox 6"/>
            <p:cNvSpPr txBox="1"/>
            <p:nvPr/>
          </p:nvSpPr>
          <p:spPr>
            <a:xfrm>
              <a:off x="0" y="-38100"/>
              <a:ext cx="6002645" cy="3001334"/>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2702205" y="-3530212"/>
            <a:ext cx="22791292" cy="4160024"/>
            <a:chOff x="0" y="0"/>
            <a:chExt cx="6002645" cy="1095644"/>
          </a:xfrm>
        </p:grpSpPr>
        <p:sp>
          <p:nvSpPr>
            <p:cNvPr id="8" name="Freeform 8"/>
            <p:cNvSpPr/>
            <p:nvPr/>
          </p:nvSpPr>
          <p:spPr>
            <a:xfrm>
              <a:off x="0" y="0"/>
              <a:ext cx="6002645" cy="1095644"/>
            </a:xfrm>
            <a:custGeom>
              <a:avLst/>
              <a:gdLst/>
              <a:ahLst/>
              <a:cxnLst/>
              <a:rect l="l" t="t" r="r" b="b"/>
              <a:pathLst>
                <a:path w="6002645" h="1095644">
                  <a:moveTo>
                    <a:pt x="0" y="0"/>
                  </a:moveTo>
                  <a:lnTo>
                    <a:pt x="6002645" y="0"/>
                  </a:lnTo>
                  <a:lnTo>
                    <a:pt x="6002645" y="1095644"/>
                  </a:lnTo>
                  <a:lnTo>
                    <a:pt x="0" y="1095644"/>
                  </a:lnTo>
                  <a:close/>
                </a:path>
              </a:pathLst>
            </a:custGeom>
            <a:solidFill>
              <a:srgbClr val="5C7D52"/>
            </a:solidFill>
          </p:spPr>
        </p:sp>
        <p:sp>
          <p:nvSpPr>
            <p:cNvPr id="9" name="TextBox 9"/>
            <p:cNvSpPr txBox="1"/>
            <p:nvPr/>
          </p:nvSpPr>
          <p:spPr>
            <a:xfrm>
              <a:off x="0" y="-38100"/>
              <a:ext cx="6002645" cy="1133744"/>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3648239" y="3996295"/>
            <a:ext cx="11635088" cy="1896497"/>
          </a:xfrm>
          <a:prstGeom prst="rect">
            <a:avLst/>
          </a:prstGeom>
        </p:spPr>
        <p:txBody>
          <a:bodyPr lIns="0" tIns="0" rIns="0" bIns="0" rtlCol="0" anchor="t">
            <a:spAutoFit/>
          </a:bodyPr>
          <a:lstStyle/>
          <a:p>
            <a:pPr algn="ctr">
              <a:lnSpc>
                <a:spcPts val="7462"/>
              </a:lnSpc>
            </a:pPr>
            <a:r>
              <a:rPr lang="en-US" sz="6663" dirty="0">
                <a:solidFill>
                  <a:srgbClr val="3B5F3E"/>
                </a:solidFill>
                <a:latin typeface="Dreaming Outloud Sans"/>
                <a:ea typeface="Dreaming Outloud Sans"/>
                <a:cs typeface="Dreaming Outloud Sans"/>
                <a:sym typeface="Dreaming Outloud Sans"/>
              </a:rPr>
              <a:t>Thank you for your attention Questions are welcome.</a:t>
            </a:r>
          </a:p>
        </p:txBody>
      </p:sp>
      <p:sp>
        <p:nvSpPr>
          <p:cNvPr id="19" name="TextBox 19"/>
          <p:cNvSpPr txBox="1"/>
          <p:nvPr/>
        </p:nvSpPr>
        <p:spPr>
          <a:xfrm>
            <a:off x="4190572" y="1596536"/>
            <a:ext cx="9906856" cy="2252185"/>
          </a:xfrm>
          <a:prstGeom prst="rect">
            <a:avLst/>
          </a:prstGeom>
        </p:spPr>
        <p:txBody>
          <a:bodyPr lIns="0" tIns="0" rIns="0" bIns="0" rtlCol="0" anchor="t">
            <a:spAutoFit/>
          </a:bodyPr>
          <a:lstStyle/>
          <a:p>
            <a:pPr algn="ctr">
              <a:lnSpc>
                <a:spcPts val="9046"/>
              </a:lnSpc>
              <a:spcBef>
                <a:spcPct val="0"/>
              </a:spcBef>
            </a:pPr>
            <a:r>
              <a:rPr lang="en-US" sz="6462">
                <a:solidFill>
                  <a:srgbClr val="3B5F3E"/>
                </a:solidFill>
                <a:latin typeface="Balmy"/>
                <a:ea typeface="Balmy"/>
                <a:cs typeface="Balmy"/>
                <a:sym typeface="Balmy"/>
              </a:rPr>
              <a:t>your goals deserve a real plan</a:t>
            </a:r>
          </a:p>
        </p:txBody>
      </p:sp>
      <p:sp>
        <p:nvSpPr>
          <p:cNvPr id="20" name="TextBox 20"/>
          <p:cNvSpPr txBox="1"/>
          <p:nvPr/>
        </p:nvSpPr>
        <p:spPr>
          <a:xfrm>
            <a:off x="-111848" y="5845149"/>
            <a:ext cx="18511695" cy="2901243"/>
          </a:xfrm>
          <a:prstGeom prst="rect">
            <a:avLst/>
          </a:prstGeom>
        </p:spPr>
        <p:txBody>
          <a:bodyPr wrap="square" lIns="0" tIns="0" rIns="0" bIns="0" rtlCol="0" anchor="t">
            <a:spAutoFit/>
          </a:bodyPr>
          <a:lstStyle/>
          <a:p>
            <a:pPr algn="ctr">
              <a:lnSpc>
                <a:spcPts val="7462"/>
              </a:lnSpc>
            </a:pPr>
            <a:r>
              <a:rPr lang="en-US" sz="6663" dirty="0" smtClean="0">
                <a:solidFill>
                  <a:srgbClr val="3B5F3E"/>
                </a:solidFill>
                <a:latin typeface="Dreaming Outloud Sans"/>
                <a:ea typeface="Dreaming Outloud Sans"/>
                <a:cs typeface="Dreaming Outloud Sans"/>
                <a:sym typeface="Dreaming Outloud Sans"/>
              </a:rPr>
              <a:t>This is the </a:t>
            </a:r>
            <a:r>
              <a:rPr lang="en-US" sz="6663" dirty="0" err="1" smtClean="0">
                <a:solidFill>
                  <a:srgbClr val="3B5F3E"/>
                </a:solidFill>
                <a:latin typeface="Dreaming Outloud Sans"/>
                <a:ea typeface="Dreaming Outloud Sans"/>
                <a:cs typeface="Dreaming Outloud Sans"/>
                <a:sym typeface="Dreaming Outloud Sans"/>
              </a:rPr>
              <a:t>canva</a:t>
            </a:r>
            <a:r>
              <a:rPr lang="en-US" sz="6663" dirty="0" smtClean="0">
                <a:solidFill>
                  <a:srgbClr val="3B5F3E"/>
                </a:solidFill>
                <a:latin typeface="Dreaming Outloud Sans"/>
                <a:ea typeface="Dreaming Outloud Sans"/>
                <a:cs typeface="Dreaming Outloud Sans"/>
                <a:sym typeface="Dreaming Outloud Sans"/>
              </a:rPr>
              <a:t> link of our original presentation that has the visuals and implementation video</a:t>
            </a:r>
          </a:p>
          <a:p>
            <a:pPr algn="ctr">
              <a:lnSpc>
                <a:spcPts val="7462"/>
              </a:lnSpc>
            </a:pPr>
            <a:r>
              <a:rPr lang="en-US" sz="6663" dirty="0">
                <a:solidFill>
                  <a:srgbClr val="3B5F3E"/>
                </a:solidFill>
                <a:latin typeface="Dreaming Outloud Sans"/>
                <a:ea typeface="Dreaming Outloud Sans"/>
                <a:cs typeface="Dreaming Outloud Sans"/>
                <a:sym typeface="Dreaming Outloud Sans"/>
              </a:rPr>
              <a:t>https://canva.link/u9v5t1zfjs6896p</a:t>
            </a:r>
            <a:endParaRPr lang="en-US" sz="6663" dirty="0">
              <a:solidFill>
                <a:srgbClr val="3B5F3E"/>
              </a:solidFill>
              <a:latin typeface="Dreaming Outloud Sans"/>
              <a:ea typeface="Dreaming Outloud Sans"/>
              <a:cs typeface="Dreaming Outloud Sans"/>
              <a:sym typeface="Dreaming Outloud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1769</Words>
  <Application>Microsoft Office PowerPoint</Application>
  <PresentationFormat>Custom</PresentationFormat>
  <Paragraphs>126</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Dreaming Outloud Sans</vt:lpstr>
      <vt:lpstr>Arial</vt:lpstr>
      <vt:lpstr>Calibri</vt:lpstr>
      <vt:lpstr>Balmy</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Illustrated Fresh Food Presentation</dc:title>
  <cp:lastModifiedBy>Omar</cp:lastModifiedBy>
  <cp:revision>9</cp:revision>
  <dcterms:created xsi:type="dcterms:W3CDTF">2006-08-16T00:00:00Z</dcterms:created>
  <dcterms:modified xsi:type="dcterms:W3CDTF">2026-05-16T18:11:34Z</dcterms:modified>
  <dc:identifier>DAHJNR6qJlE</dc:identifier>
</cp:coreProperties>
</file>